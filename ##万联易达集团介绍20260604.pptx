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0" r:id="rId6"/>
    <p:sldId id="262" r:id="rId7"/>
    <p:sldId id="264" r:id="rId8"/>
    <p:sldId id="266" r:id="rId9"/>
    <p:sldId id="267" r:id="rId10"/>
    <p:sldId id="269" r:id="rId11"/>
  </p:sldIdLst>
  <p:sldSz cx="24384000" cy="13716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各位好,下面由我带您了解万联易达集团。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万联易达控股集团,由深耕实体产业三十年的中泽集团出资设立,是一家以生产性服务业平台运营为主业的产业互联网公司。我们的愿景是成为全球最大的产业互联网生态系统运营商；我们的使命是构建新型产业互联网生态系统,为生态伙伴提供线上高效、线下优质的生产性服务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万联易达集团以“全产业可信数据空间”为核心底座，构建“线上平台+线下网络”的立体化运营体系，通过“数据+交易+物流+金融”的闭环服务，实现全产业、全场景的产业服务数智化，达成“赋能企业、创造价值、繁荣生态”的目标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围绕企业经营的核心环节,我们构建了四大平台。商品交易平台"万贸达",是数字化交易的业务枢纽,聚焦大宗商品与标准品交易,覆盖一万五千多个商品品类,为企业提供寻源、下单、支付、融资、履约、售后的一站式解决方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物流服务平台"万连通",为企业提供一站式智能化物流履约与资源精准匹配。平台入驻货主企业超过三万家,服务运力超过四百万,服务涵盖物流撮合、网络货运、车后电商、智慧场站、车辆管理等方面。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数智金融平台"万连融",是产业生态的金融管理中心,更是连接资产与资金的价值变现引擎。我们以独创的"一加</a:t>
            </a:r>
            <a:r>
              <a:rPr lang="en-US" altLang="zh-CN"/>
              <a:t>N</a:t>
            </a:r>
            <a:r>
              <a:rPr lang="zh-CN" altLang="en-US"/>
              <a:t>加</a:t>
            </a:r>
            <a:r>
              <a:rPr lang="en-US" altLang="zh-CN"/>
              <a:t>M"</a:t>
            </a:r>
            <a:r>
              <a:rPr lang="zh-CN" altLang="en-US"/>
              <a:t>模式,联合各大金融机构,构建覆盖票据、信贷与供应链金融的服务体系,让优质企业信用在产业链中穿透释放,助力企业缓解资金压力、加速周转。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此外,围绕企业全生命周期,我们打造了七大类生产性服务平台,涵盖财税工法、咨询策划、人力资源、研发设计、节能环保等领域,以智能化服务陪伴企业从初创、成长走向成熟与转型。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在产业服务之上,万联易达自主研发了国内首个全产业</a:t>
            </a:r>
            <a:r>
              <a:rPr lang="en-US" altLang="zh-CN"/>
              <a:t>AI</a:t>
            </a:r>
            <a:r>
              <a:rPr lang="zh-CN" altLang="en-US"/>
              <a:t>大模型——万联摩尔。它融合产业本体图谱的结构化思考技术,具备产业数据覆盖全、痛点理解深、回答准、服务能力强的特点,提供产业问数、价格预测、企业洞察、研报创作等</a:t>
            </a:r>
            <a:r>
              <a:rPr lang="en-US" altLang="zh-CN"/>
              <a:t>AI</a:t>
            </a:r>
            <a:r>
              <a:rPr lang="zh-CN" altLang="en-US"/>
              <a:t>辅助决策能力,推动企业经营从经验驱动迈向数据驱动。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589276" y="1837944"/>
            <a:ext cx="19205448" cy="1023061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0267188"/>
            <a:ext cx="18896076" cy="3448812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180587" y="0"/>
            <a:ext cx="21203412" cy="2592324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3227730" y="5087950"/>
            <a:ext cx="8749030" cy="403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5300" kern="0" spc="280" dirty="0">
                <a:solidFill>
                  <a:srgbClr val="424242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全方位、</a:t>
            </a:r>
            <a:r>
              <a:rPr sz="5300" kern="0" spc="-910" dirty="0">
                <a:solidFill>
                  <a:srgbClr val="424242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5300" kern="0" spc="280" dirty="0">
                <a:solidFill>
                  <a:srgbClr val="424242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数字化、</a:t>
            </a:r>
            <a:r>
              <a:rPr sz="5300" kern="0" spc="-900" dirty="0">
                <a:solidFill>
                  <a:srgbClr val="424242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5300" kern="0" spc="280" dirty="0">
                <a:solidFill>
                  <a:srgbClr val="424242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智能化</a:t>
            </a:r>
            <a:r>
              <a:rPr sz="5300" kern="0" spc="270" dirty="0">
                <a:solidFill>
                  <a:srgbClr val="424242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</a:t>
            </a:r>
            <a:endParaRPr sz="53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5875" algn="l" rtl="0" eaLnBrk="0">
              <a:lnSpc>
                <a:spcPts val="10340"/>
              </a:lnSpc>
            </a:pPr>
            <a:r>
              <a:rPr sz="5300" kern="0" spc="390" dirty="0">
                <a:solidFill>
                  <a:srgbClr val="424242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综合性产业服务</a:t>
            </a:r>
            <a:endParaRPr sz="53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20955" algn="l" rtl="0" eaLnBrk="0">
              <a:lnSpc>
                <a:spcPts val="3610"/>
              </a:lnSpc>
              <a:spcBef>
                <a:spcPts val="820"/>
              </a:spcBef>
            </a:pPr>
            <a:r>
              <a:rPr sz="2700" kern="0" spc="240" dirty="0">
                <a:solidFill>
                  <a:srgbClr val="A9A9A9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COMPREHENSIVE,</a:t>
            </a:r>
            <a:r>
              <a:rPr sz="2700" kern="0" spc="660" dirty="0">
                <a:solidFill>
                  <a:srgbClr val="A9A9A9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700" kern="0" spc="240" dirty="0">
                <a:solidFill>
                  <a:srgbClr val="A9A9A9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DIGITAL</a:t>
            </a:r>
            <a:r>
              <a:rPr sz="2700" kern="0" spc="560" dirty="0">
                <a:solidFill>
                  <a:srgbClr val="A9A9A9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700" kern="0" spc="240" dirty="0">
                <a:solidFill>
                  <a:srgbClr val="A9A9A9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&amp;</a:t>
            </a:r>
            <a:r>
              <a:rPr sz="2700" kern="0" spc="670" dirty="0">
                <a:solidFill>
                  <a:srgbClr val="A9A9A9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700" kern="0" spc="240" dirty="0">
                <a:solidFill>
                  <a:srgbClr val="A9A9A9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</a:t>
            </a:r>
            <a:r>
              <a:rPr sz="2700" kern="0" spc="230" dirty="0">
                <a:solidFill>
                  <a:srgbClr val="A9A9A9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NTELLIGENT</a:t>
            </a:r>
            <a:endParaRPr sz="2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38100" algn="l" rtl="0" eaLnBrk="0">
              <a:lnSpc>
                <a:spcPts val="4560"/>
              </a:lnSpc>
            </a:pPr>
            <a:r>
              <a:rPr sz="2700" kern="0" spc="220" dirty="0">
                <a:solidFill>
                  <a:srgbClr val="A9A9A9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INTEGRATED</a:t>
            </a:r>
            <a:r>
              <a:rPr sz="2700" kern="0" spc="680" dirty="0">
                <a:solidFill>
                  <a:srgbClr val="A9A9A9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700" kern="0" spc="220" dirty="0">
                <a:solidFill>
                  <a:srgbClr val="A9A9A9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INDUSTRIAL</a:t>
            </a:r>
            <a:r>
              <a:rPr sz="2700" kern="0" spc="570" dirty="0">
                <a:solidFill>
                  <a:srgbClr val="A9A9A9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700" kern="0" spc="220" dirty="0">
                <a:solidFill>
                  <a:srgbClr val="A9A9A9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SERVICES</a:t>
            </a:r>
            <a:endParaRPr sz="2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24384000" cy="13716000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905256" y="1185544"/>
            <a:ext cx="22573614" cy="3713480"/>
          </a:xfrm>
          <a:prstGeom prst="rect">
            <a:avLst/>
          </a:prstGeom>
          <a:solidFill>
            <a:srgbClr val="E6001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455295" algn="l" rtl="0" eaLnBrk="0">
              <a:lnSpc>
                <a:spcPct val="94000"/>
              </a:lnSpc>
              <a:spcBef>
                <a:spcPts val="5"/>
              </a:spcBef>
            </a:pPr>
            <a:r>
              <a:rPr sz="2300" b="1" kern="0" spc="3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万联易达控股集团有限公司</a:t>
            </a:r>
            <a:r>
              <a:rPr sz="2000" kern="0" spc="3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（简称</a:t>
            </a:r>
            <a:r>
              <a:rPr sz="2000" kern="0" spc="36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3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“万联易达”</a:t>
            </a:r>
            <a:r>
              <a:rPr sz="2000" kern="0" spc="-49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3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）是</a:t>
            </a:r>
            <a:r>
              <a:rPr sz="2000" kern="0" spc="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由中泽集团出资设立</a:t>
            </a:r>
            <a:r>
              <a:rPr sz="2000" kern="0" spc="-37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，以生产性服务业平台运营为主业的产业互联网公司。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455295" algn="l" rtl="0" eaLnBrk="0">
              <a:lnSpc>
                <a:spcPct val="84000"/>
              </a:lnSpc>
              <a:spcBef>
                <a:spcPts val="600"/>
              </a:spcBef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万联易达通过构建新型产业互联网生态系统</a:t>
            </a:r>
            <a:r>
              <a:rPr sz="2000" kern="0" spc="-37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，打造全产业可信数据空间</a:t>
            </a:r>
            <a:r>
              <a:rPr sz="2000" kern="0" spc="-37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，依托线上平台与线下服务</a:t>
            </a:r>
            <a:r>
              <a:rPr sz="2000" kern="0" spc="-37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，为企业提供商品交易、</a:t>
            </a:r>
            <a:r>
              <a:rPr sz="2000" kern="0" spc="-5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物流仓储、</a:t>
            </a:r>
            <a:r>
              <a:rPr sz="2000" kern="0" spc="-50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数智金融、</a:t>
            </a:r>
            <a:r>
              <a:rPr sz="2000" kern="0" spc="-50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数字科技、</a:t>
            </a:r>
            <a:r>
              <a:rPr sz="2000" kern="0" spc="-48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人工智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能、</a:t>
            </a:r>
            <a:r>
              <a:rPr sz="2000" kern="0" spc="-49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产业资讯、</a:t>
            </a:r>
            <a:r>
              <a:rPr sz="2000" kern="0" spc="-48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商务服务以及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454660" algn="l" rtl="0" eaLnBrk="0">
              <a:lnSpc>
                <a:spcPts val="3350"/>
              </a:lnSpc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其他全方位、</a:t>
            </a:r>
            <a:r>
              <a:rPr sz="2000" kern="0" spc="-47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多样化综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合性产业服务。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11251692" y="5347538"/>
            <a:ext cx="12227051" cy="3394125"/>
            <a:chOff x="0" y="0"/>
            <a:chExt cx="12227051" cy="3394125"/>
          </a:xfrm>
        </p:grpSpPr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227051" cy="3394125"/>
            </a:xfrm>
            <a:prstGeom prst="rect">
              <a:avLst/>
            </a:prstGeom>
          </p:spPr>
        </p:pic>
        <p:sp>
          <p:nvSpPr>
            <p:cNvPr id="26" name="textbox 26"/>
            <p:cNvSpPr/>
            <p:nvPr/>
          </p:nvSpPr>
          <p:spPr>
            <a:xfrm>
              <a:off x="309120" y="2057545"/>
              <a:ext cx="3072765" cy="1043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4605" algn="l" rtl="0" eaLnBrk="0">
                <a:lnSpc>
                  <a:spcPct val="82000"/>
                </a:lnSpc>
              </a:pP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构建新型产业互联网生态系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2700" indent="1905" algn="l" rtl="0" eaLnBrk="0">
                <a:lnSpc>
                  <a:spcPct val="125000"/>
                </a:lnSpc>
                <a:spcBef>
                  <a:spcPts val="45"/>
                </a:spcBef>
              </a:pP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统；为生态伙伴提供线上高</a:t>
              </a:r>
              <a:r>
                <a:rPr sz="2000" kern="0" spc="-2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效、</a:t>
              </a:r>
              <a:r>
                <a:rPr sz="2000" kern="0" spc="-45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-2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线下优质的生产性服务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28" name="textbox 28"/>
            <p:cNvSpPr/>
            <p:nvPr/>
          </p:nvSpPr>
          <p:spPr>
            <a:xfrm>
              <a:off x="4578737" y="2221059"/>
              <a:ext cx="3072765" cy="6419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3000"/>
                </a:lnSpc>
              </a:pP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成为全球最大的产业互</a:t>
              </a: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联网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648970" algn="l" rtl="0" eaLnBrk="0">
                <a:lnSpc>
                  <a:spcPts val="2865"/>
                </a:lnSpc>
              </a:pP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生态系统运营商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0" name="textbox 30"/>
            <p:cNvSpPr/>
            <p:nvPr/>
          </p:nvSpPr>
          <p:spPr>
            <a:xfrm>
              <a:off x="9237859" y="2219848"/>
              <a:ext cx="2309495" cy="6445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4605" algn="l" rtl="0" eaLnBrk="0">
                <a:lnSpc>
                  <a:spcPct val="83000"/>
                </a:lnSpc>
              </a:pPr>
              <a:r>
                <a:rPr sz="2000" kern="0" spc="-4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服务至上</a:t>
              </a:r>
              <a:r>
                <a:rPr sz="2000" kern="0" spc="-36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-4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，开放共赢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2700" algn="l" rtl="0" eaLnBrk="0">
                <a:lnSpc>
                  <a:spcPts val="2880"/>
                </a:lnSpc>
              </a:pPr>
              <a:r>
                <a:rPr sz="2000" kern="0" spc="-4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奋斗分享</a:t>
              </a:r>
              <a:r>
                <a:rPr sz="2000" kern="0" spc="-34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-4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，奉献社会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2" name="textbox 32"/>
            <p:cNvSpPr/>
            <p:nvPr/>
          </p:nvSpPr>
          <p:spPr>
            <a:xfrm>
              <a:off x="1334120" y="713447"/>
              <a:ext cx="1345565" cy="7264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2300" kern="0" spc="7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使命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37465" algn="l" rtl="0" eaLnBrk="0">
                <a:lnSpc>
                  <a:spcPts val="3100"/>
                </a:lnSpc>
                <a:spcBef>
                  <a:spcPts val="35"/>
                </a:spcBef>
              </a:pPr>
              <a:r>
                <a:rPr sz="2300" kern="0" spc="10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MISSION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5621488" y="724724"/>
              <a:ext cx="1080135" cy="7150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3970" algn="l" rtl="0" eaLnBrk="0">
                <a:lnSpc>
                  <a:spcPct val="83000"/>
                </a:lnSpc>
              </a:pPr>
              <a:r>
                <a:rPr sz="2300" kern="0" spc="7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愿景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2700" algn="l" rtl="0" eaLnBrk="0">
                <a:lnSpc>
                  <a:spcPts val="3100"/>
                </a:lnSpc>
                <a:spcBef>
                  <a:spcPts val="40"/>
                </a:spcBef>
              </a:pPr>
              <a:r>
                <a:rPr sz="2300" kern="0" spc="14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VISION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6" name="textbox 36"/>
            <p:cNvSpPr/>
            <p:nvPr/>
          </p:nvSpPr>
          <p:spPr>
            <a:xfrm>
              <a:off x="9622396" y="713751"/>
              <a:ext cx="1170940" cy="6515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874" rIns="0" bIns="0"/>
            <a:lstStyle/>
            <a:p>
              <a:pPr marL="1270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300" kern="0" spc="8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价值观</a:t>
              </a:r>
              <a:r>
                <a:rPr sz="2300" kern="0" spc="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300" kern="0" spc="1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VALUES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1660525" y="1905000"/>
            <a:ext cx="20975448" cy="10134600"/>
            <a:chOff x="0" y="0"/>
            <a:chExt cx="20975448" cy="10134600"/>
          </a:xfrm>
        </p:grpSpPr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20975448" cy="10134600"/>
            </a:xfrm>
            <a:prstGeom prst="rect">
              <a:avLst/>
            </a:prstGeom>
          </p:spPr>
        </p:pic>
        <p:sp>
          <p:nvSpPr>
            <p:cNvPr id="50" name="textbox 50"/>
            <p:cNvSpPr/>
            <p:nvPr/>
          </p:nvSpPr>
          <p:spPr>
            <a:xfrm>
              <a:off x="3062491" y="3427819"/>
              <a:ext cx="15464789" cy="2889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2000" kern="0" spc="1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商品交易平台                                </a:t>
              </a:r>
              <a:r>
                <a:rPr sz="2000" kern="0" spc="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物流服务平台                                   数智金融平台                             七大类生产性服务平台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52" name="textbox 52"/>
            <p:cNvSpPr/>
            <p:nvPr/>
          </p:nvSpPr>
          <p:spPr>
            <a:xfrm>
              <a:off x="4042168" y="8799033"/>
              <a:ext cx="13225780" cy="2882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赋能企业、</a:t>
              </a:r>
              <a:r>
                <a:rPr sz="2000" kern="0" spc="-50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创造价值、</a:t>
              </a:r>
              <a:r>
                <a:rPr sz="2000" kern="0" spc="-49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繁荣生态                          </a:t>
              </a: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                             实现全产业、</a:t>
              </a:r>
              <a:r>
                <a:rPr sz="2000" kern="0" spc="-49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全场景的产业服务数智化革命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54" name="textbox 54"/>
            <p:cNvSpPr/>
            <p:nvPr/>
          </p:nvSpPr>
          <p:spPr>
            <a:xfrm>
              <a:off x="15406523" y="672236"/>
              <a:ext cx="2155190" cy="7689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3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625475" algn="l" rtl="0" eaLnBrk="0">
                <a:lnSpc>
                  <a:spcPct val="87000"/>
                </a:lnSpc>
              </a:pPr>
              <a:r>
                <a:rPr sz="2300" kern="0" spc="7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专家级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10000"/>
                </a:lnSpc>
              </a:pPr>
              <a:endParaRPr sz="8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6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2300" kern="0" spc="9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产业智能体生态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56" name="textbox 56"/>
            <p:cNvSpPr/>
            <p:nvPr/>
          </p:nvSpPr>
          <p:spPr>
            <a:xfrm>
              <a:off x="9356242" y="674675"/>
              <a:ext cx="2155190" cy="7658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2300" kern="0" spc="5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全方位、</a:t>
              </a:r>
              <a:r>
                <a:rPr sz="2300" kern="0" spc="-47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300" kern="0" spc="5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数智化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65100" algn="l" rtl="0" eaLnBrk="0">
                <a:lnSpc>
                  <a:spcPts val="3440"/>
                </a:lnSpc>
              </a:pPr>
              <a:r>
                <a:rPr sz="2300" kern="0" spc="9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生产性服务业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58" name="textbox 58"/>
            <p:cNvSpPr/>
            <p:nvPr/>
          </p:nvSpPr>
          <p:spPr>
            <a:xfrm>
              <a:off x="4813589" y="6013799"/>
              <a:ext cx="2044065" cy="6838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318135" algn="l" rtl="0" eaLnBrk="0">
                <a:lnSpc>
                  <a:spcPct val="87000"/>
                </a:lnSpc>
              </a:pPr>
              <a:r>
                <a:rPr sz="2000" kern="0" spc="12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“线上+线下”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07000"/>
                </a:lnSpc>
              </a:pPr>
              <a:endParaRPr sz="8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2000" kern="0" spc="-2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的生产性服务体系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60" name="textbox 60"/>
            <p:cNvSpPr/>
            <p:nvPr/>
          </p:nvSpPr>
          <p:spPr>
            <a:xfrm>
              <a:off x="3184042" y="890599"/>
              <a:ext cx="2764790" cy="3289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3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2300" kern="0" spc="9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全产业可信数据空间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62" name="textbox 62"/>
            <p:cNvSpPr/>
            <p:nvPr/>
          </p:nvSpPr>
          <p:spPr>
            <a:xfrm>
              <a:off x="14488547" y="5914869"/>
              <a:ext cx="532130" cy="5518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8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indent="2540" algn="l" rtl="0" eaLnBrk="0">
                <a:lnSpc>
                  <a:spcPct val="86000"/>
                </a:lnSpc>
              </a:pPr>
              <a:r>
                <a:rPr sz="2000" kern="0" spc="-3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可信</a:t>
              </a:r>
              <a:r>
                <a:rPr sz="2000" kern="0" spc="-2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数据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64" name="textbox 64"/>
            <p:cNvSpPr/>
            <p:nvPr/>
          </p:nvSpPr>
          <p:spPr>
            <a:xfrm>
              <a:off x="12058151" y="5914614"/>
              <a:ext cx="530860" cy="5492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2000" kern="0" spc="-2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生态</a:t>
              </a:r>
              <a:r>
                <a:rPr sz="2000" kern="0" spc="-2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场景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66" name="textbox 66"/>
            <p:cNvSpPr/>
            <p:nvPr/>
          </p:nvSpPr>
          <p:spPr>
            <a:xfrm>
              <a:off x="16903070" y="5919452"/>
              <a:ext cx="531495" cy="5480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2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indent="1270" algn="l" rtl="0" eaLnBrk="0">
                <a:lnSpc>
                  <a:spcPct val="86000"/>
                </a:lnSpc>
              </a:pPr>
              <a:r>
                <a:rPr sz="2000" kern="0" spc="-2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人工</a:t>
              </a:r>
              <a:r>
                <a:rPr sz="2000" kern="0" spc="-2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智能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68" name="textbox 68"/>
          <p:cNvSpPr/>
          <p:nvPr/>
        </p:nvSpPr>
        <p:spPr>
          <a:xfrm>
            <a:off x="21976080" y="521208"/>
            <a:ext cx="2407920" cy="635635"/>
          </a:xfrm>
          <a:prstGeom prst="rect">
            <a:avLst/>
          </a:prstGeom>
          <a:solidFill>
            <a:srgbClr val="E6001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8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494030" algn="l" rtl="0" eaLnBrk="0">
              <a:lnSpc>
                <a:spcPct val="86000"/>
              </a:lnSpc>
              <a:spcBef>
                <a:spcPts val="5"/>
              </a:spcBef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商业模式</a:t>
            </a:r>
            <a:endParaRPr sz="2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4142720" y="2452239"/>
            <a:ext cx="8195331" cy="7903546"/>
          </a:xfrm>
          <a:prstGeom prst="rect">
            <a:avLst/>
          </a:prstGeom>
        </p:spPr>
      </p:pic>
      <p:sp>
        <p:nvSpPr>
          <p:cNvPr id="82" name="textbox 82"/>
          <p:cNvSpPr/>
          <p:nvPr/>
        </p:nvSpPr>
        <p:spPr>
          <a:xfrm>
            <a:off x="1454912" y="2172807"/>
            <a:ext cx="11924665" cy="3611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67945" algn="l" rtl="0" eaLnBrk="0">
              <a:lnSpc>
                <a:spcPct val="84000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商品交易平台是万联易达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打造的数字化交易业务枢纽</a:t>
            </a:r>
            <a:r>
              <a:rPr sz="2000" kern="0" spc="-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，已成为产业数字化转型和构建生态能力的重要基础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67945" algn="l" rtl="0" eaLnBrk="0">
              <a:lnSpc>
                <a:spcPts val="3590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设施</a:t>
            </a:r>
            <a:r>
              <a:rPr sz="2000" kern="0" spc="-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，致力于提供</a:t>
            </a:r>
            <a:r>
              <a:rPr sz="2000" kern="0" spc="3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“交易-履约-风控-融资”一体化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服务。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504825" algn="l" rtl="0" eaLnBrk="0">
              <a:lnSpc>
                <a:spcPct val="87000"/>
              </a:lnSpc>
              <a:spcBef>
                <a:spcPts val="700"/>
              </a:spcBef>
              <a:tabLst>
                <a:tab pos="758190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大宗商品与标准品交易服务</a:t>
            </a:r>
            <a:endParaRPr sz="23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66675" algn="l" rtl="0" eaLnBrk="0">
              <a:lnSpc>
                <a:spcPts val="2590"/>
              </a:lnSpc>
              <a:spcBef>
                <a:spcPts val="60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聚焦大宗商品交易与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标准品交易服务</a:t>
            </a:r>
            <a:r>
              <a:rPr sz="2000" kern="0" spc="-3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，覆盖15000+商品品类</a:t>
            </a:r>
            <a:r>
              <a:rPr sz="2000" kern="0" spc="-3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，融合万联易达的交易、</a:t>
            </a:r>
            <a:r>
              <a:rPr sz="2000" kern="0" spc="-5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物流、</a:t>
            </a:r>
            <a:r>
              <a:rPr sz="2000" kern="0" spc="-5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金融、</a:t>
            </a:r>
            <a:r>
              <a:rPr sz="2000" kern="0" spc="-5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Al智能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64770" algn="l" rtl="0" eaLnBrk="0">
              <a:lnSpc>
                <a:spcPts val="3370"/>
              </a:lnSpc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体等能力</a:t>
            </a:r>
            <a:r>
              <a:rPr sz="2000" kern="0" spc="-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，为客户提供</a:t>
            </a:r>
            <a:r>
              <a:rPr sz="2000" kern="0" spc="3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“寻源-下单-支付-融资-履约-售后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”的一站式解决方案。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67612" y="3701795"/>
            <a:ext cx="492252" cy="49225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1466850" y="6069863"/>
            <a:ext cx="9937242" cy="3842233"/>
            <a:chOff x="0" y="0"/>
            <a:chExt cx="9937242" cy="3842233"/>
          </a:xfrm>
        </p:grpSpPr>
        <p:pic>
          <p:nvPicPr>
            <p:cNvPr id="86" name="picture 8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9937242" cy="3842233"/>
            </a:xfrm>
            <a:prstGeom prst="rect">
              <a:avLst/>
            </a:prstGeom>
          </p:spPr>
        </p:pic>
        <p:sp>
          <p:nvSpPr>
            <p:cNvPr id="88" name="textbox 88"/>
            <p:cNvSpPr/>
            <p:nvPr/>
          </p:nvSpPr>
          <p:spPr>
            <a:xfrm>
              <a:off x="789597" y="813345"/>
              <a:ext cx="8757285" cy="25304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大宗商品交易服务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4943475" algn="l" rtl="0" eaLnBrk="0">
                <a:lnSpc>
                  <a:spcPct val="83000"/>
                </a:lnSpc>
                <a:spcBef>
                  <a:spcPts val="605"/>
                </a:spcBef>
              </a:pPr>
              <a:r>
                <a:rPr sz="2000" kern="0" spc="6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覆盖办公用品</a:t>
              </a:r>
              <a:r>
                <a:rPr sz="2000" kern="0" spc="30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6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、</a:t>
              </a:r>
              <a:r>
                <a:rPr sz="2000" kern="0" spc="-37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6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耗</a:t>
              </a:r>
              <a:r>
                <a:rPr sz="2000" kern="0" spc="20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6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材、</a:t>
              </a:r>
              <a:r>
                <a:rPr sz="2000" kern="0" spc="-20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MRO</a:t>
              </a:r>
              <a:r>
                <a:rPr sz="2000" kern="0" spc="6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等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4941570" indent="635" algn="l" rtl="0" eaLnBrk="0">
                <a:lnSpc>
                  <a:spcPct val="145000"/>
                </a:lnSpc>
                <a:spcBef>
                  <a:spcPts val="15"/>
                </a:spcBef>
              </a:pPr>
              <a:r>
                <a:rPr sz="2000" kern="0" spc="10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高标准化商品</a:t>
              </a:r>
              <a:r>
                <a:rPr sz="2000" kern="0" spc="-16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10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，提供虚拟自营与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一站式采购商城的解</a:t>
              </a: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决方案。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16776764" y="11134878"/>
            <a:ext cx="6632753" cy="1739900"/>
            <a:chOff x="0" y="0"/>
            <a:chExt cx="6632753" cy="1739900"/>
          </a:xfrm>
        </p:grpSpPr>
        <p:pic>
          <p:nvPicPr>
            <p:cNvPr id="90" name="picture 9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6632753" cy="1739900"/>
            </a:xfrm>
            <a:prstGeom prst="rect">
              <a:avLst/>
            </a:prstGeom>
          </p:spPr>
        </p:pic>
        <p:sp>
          <p:nvSpPr>
            <p:cNvPr id="92" name="textbox 92"/>
            <p:cNvSpPr/>
            <p:nvPr/>
          </p:nvSpPr>
          <p:spPr>
            <a:xfrm>
              <a:off x="-12700" y="-12700"/>
              <a:ext cx="6658610" cy="1765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336550" algn="l" rtl="0" eaLnBrk="0">
                <a:lnSpc>
                  <a:spcPct val="83000"/>
                </a:lnSpc>
                <a:spcBef>
                  <a:spcPts val="0"/>
                </a:spcBef>
              </a:pPr>
              <a:r>
                <a:rPr sz="2000" kern="0" spc="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基于平台进行标准化商品的集采、</a:t>
              </a:r>
              <a:r>
                <a:rPr sz="2000" kern="0" spc="-35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管理、</a:t>
              </a:r>
              <a:r>
                <a:rPr sz="2000" kern="0" spc="-42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结算</a:t>
              </a:r>
              <a:r>
                <a:rPr sz="2000" kern="0" spc="-2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，有效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336550" algn="l" rtl="0" eaLnBrk="0">
                <a:lnSpc>
                  <a:spcPts val="2885"/>
                </a:lnSpc>
              </a:pPr>
              <a:r>
                <a:rPr sz="2000" kern="0" spc="-2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控制采购成本</a:t>
              </a:r>
              <a:r>
                <a:rPr sz="2000" kern="0" spc="-37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-2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，推动费用支出透明化。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aphicFrame>
        <p:nvGraphicFramePr>
          <p:cNvPr id="94" name="table 94"/>
          <p:cNvGraphicFramePr>
            <a:graphicFrameLocks noGrp="1"/>
          </p:cNvGraphicFramePr>
          <p:nvPr/>
        </p:nvGraphicFramePr>
        <p:xfrm>
          <a:off x="3907091" y="11134878"/>
          <a:ext cx="6233794" cy="1739900"/>
        </p:xfrm>
        <a:graphic>
          <a:graphicData uri="http://schemas.openxmlformats.org/drawingml/2006/table">
            <a:tbl>
              <a:tblPr/>
              <a:tblGrid>
                <a:gridCol w="6233794"/>
              </a:tblGrid>
              <a:tr h="1733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704020202020204"/>
                        <a:ea typeface="Arial" panose="020B0704020202020204"/>
                        <a:cs typeface="Arial" panose="020B07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704020202020204"/>
                        <a:ea typeface="Arial" panose="020B0704020202020204"/>
                        <a:cs typeface="Arial" panose="020B07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704020202020204"/>
                        <a:ea typeface="Arial" panose="020B0704020202020204"/>
                        <a:cs typeface="Arial" panose="020B07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704020202020204"/>
                        <a:ea typeface="Arial" panose="020B0704020202020204"/>
                        <a:cs typeface="Arial" panose="020B07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704020202020204"/>
                        <a:ea typeface="Arial" panose="020B0704020202020204"/>
                        <a:cs typeface="Arial" panose="020B0704020202020204"/>
                      </a:endParaRPr>
                    </a:p>
                    <a:p>
                      <a:pPr marL="249555" algn="l" rtl="0" eaLnBrk="0">
                        <a:lnSpc>
                          <a:spcPct val="84000"/>
                        </a:lnSpc>
                      </a:pPr>
                      <a:r>
                        <a:rPr sz="2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依托数字化工具</a:t>
                      </a:r>
                      <a:r>
                        <a:rPr sz="2000" kern="0" spc="-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2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，为企业高效匹配货源</a:t>
                      </a:r>
                      <a:r>
                        <a:rPr sz="2000" kern="0" spc="-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2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，助力卖家</a:t>
                      </a:r>
                      <a:endParaRPr sz="20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251460" algn="l" rtl="0" eaLnBrk="0">
                        <a:lnSpc>
                          <a:spcPts val="2865"/>
                        </a:lnSpc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拓宽销售渠道</a:t>
                      </a:r>
                      <a:r>
                        <a:rPr sz="2000" kern="0" spc="-3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，提高买家采购效</a:t>
                      </a: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率。</a:t>
                      </a:r>
                      <a:endParaRPr sz="20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740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40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0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0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 rot="21600000">
            <a:off x="10354628" y="11134878"/>
            <a:ext cx="6234353" cy="1739900"/>
            <a:chOff x="0" y="0"/>
            <a:chExt cx="6234353" cy="1739900"/>
          </a:xfrm>
        </p:grpSpPr>
        <p:pic>
          <p:nvPicPr>
            <p:cNvPr id="96" name="picture 9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6234353" cy="1739900"/>
            </a:xfrm>
            <a:prstGeom prst="rect">
              <a:avLst/>
            </a:prstGeom>
          </p:spPr>
        </p:pic>
        <p:sp>
          <p:nvSpPr>
            <p:cNvPr id="98" name="textbox 98"/>
            <p:cNvSpPr/>
            <p:nvPr/>
          </p:nvSpPr>
          <p:spPr>
            <a:xfrm>
              <a:off x="-12700" y="-12700"/>
              <a:ext cx="6259830" cy="1765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354965" algn="l" rtl="0" eaLnBrk="0">
                <a:lnSpc>
                  <a:spcPct val="83000"/>
                </a:lnSpc>
                <a:spcBef>
                  <a:spcPts val="5"/>
                </a:spcBef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依托平台交易场景与数据</a:t>
              </a:r>
              <a:r>
                <a:rPr sz="2000" kern="0" spc="-3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，配套提供订单融资、</a:t>
              </a:r>
              <a:r>
                <a:rPr sz="2000" kern="0" spc="-4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存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358775" algn="l" rtl="0" eaLnBrk="0">
                <a:lnSpc>
                  <a:spcPts val="2870"/>
                </a:lnSpc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货融资等供应链金融服务。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496824" y="521208"/>
            <a:ext cx="6819900" cy="941831"/>
            <a:chOff x="0" y="0"/>
            <a:chExt cx="6819900" cy="941831"/>
          </a:xfrm>
        </p:grpSpPr>
        <p:pic>
          <p:nvPicPr>
            <p:cNvPr id="100" name="picture 1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6819900" cy="941831"/>
            </a:xfrm>
            <a:prstGeom prst="rect">
              <a:avLst/>
            </a:prstGeom>
          </p:spPr>
        </p:pic>
        <p:sp>
          <p:nvSpPr>
            <p:cNvPr id="102" name="textbox 102"/>
            <p:cNvSpPr/>
            <p:nvPr/>
          </p:nvSpPr>
          <p:spPr>
            <a:xfrm>
              <a:off x="-12700" y="-12700"/>
              <a:ext cx="6845300" cy="9677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sz="7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91770" algn="l" rtl="0" eaLnBrk="0">
                <a:lnSpc>
                  <a:spcPts val="5455"/>
                </a:lnSpc>
                <a:spcBef>
                  <a:spcPts val="0"/>
                </a:spcBef>
              </a:pPr>
              <a:r>
                <a:rPr sz="6100" kern="0" spc="50" baseline="-200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01</a:t>
              </a:r>
              <a:r>
                <a:rPr sz="3900" kern="0" spc="30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  </a:t>
              </a:r>
              <a:r>
                <a:rPr sz="5500" kern="0" spc="50" baseline="10000" dirty="0">
                  <a:solidFill>
                    <a:srgbClr val="074093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商品交易平台（万贸达）</a:t>
              </a:r>
              <a:endParaRPr sz="5500" baseline="10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104" name="textbox 104"/>
          <p:cNvSpPr/>
          <p:nvPr/>
        </p:nvSpPr>
        <p:spPr>
          <a:xfrm>
            <a:off x="2107649" y="8220422"/>
            <a:ext cx="3324859" cy="1227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提供交易撮合、</a:t>
            </a:r>
            <a:r>
              <a:rPr sz="2000" kern="0" spc="-46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行业资讯、</a:t>
            </a:r>
            <a:r>
              <a:rPr sz="2000" kern="0" spc="-5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供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indent="1270" algn="l" rtl="0" eaLnBrk="0">
              <a:lnSpc>
                <a:spcPct val="155000"/>
              </a:lnSpc>
              <a:spcBef>
                <a:spcPts val="35"/>
              </a:spcBef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需信息挂牌、</a:t>
            </a:r>
            <a:r>
              <a:rPr sz="2000" kern="0" spc="-46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线上招投标等一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站式数字化采销解决方案。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21976080" y="521208"/>
            <a:ext cx="2407920" cy="635635"/>
          </a:xfrm>
          <a:prstGeom prst="rect">
            <a:avLst/>
          </a:prstGeom>
          <a:solidFill>
            <a:srgbClr val="07409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9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518795" algn="l" rtl="0" eaLnBrk="0">
              <a:lnSpc>
                <a:spcPct val="86000"/>
              </a:lnSpc>
              <a:spcBef>
                <a:spcPts val="5"/>
              </a:spcBef>
            </a:pPr>
            <a:r>
              <a:rPr sz="2700" kern="0" spc="3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四大平台</a:t>
            </a:r>
            <a:endParaRPr sz="2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1467612" y="11686032"/>
            <a:ext cx="2092452" cy="521208"/>
            <a:chOff x="0" y="0"/>
            <a:chExt cx="2092452" cy="521208"/>
          </a:xfrm>
        </p:grpSpPr>
        <p:pic>
          <p:nvPicPr>
            <p:cNvPr id="108" name="picture 10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092452" cy="521208"/>
            </a:xfrm>
            <a:prstGeom prst="rect">
              <a:avLst/>
            </a:prstGeom>
          </p:spPr>
        </p:pic>
        <p:sp>
          <p:nvSpPr>
            <p:cNvPr id="110" name="textbox 110"/>
            <p:cNvSpPr/>
            <p:nvPr/>
          </p:nvSpPr>
          <p:spPr>
            <a:xfrm>
              <a:off x="-12700" y="-12700"/>
              <a:ext cx="2118360" cy="5467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sz="7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258445" algn="l" rtl="0" eaLnBrk="0">
                <a:lnSpc>
                  <a:spcPct val="86000"/>
                </a:lnSpc>
                <a:spcBef>
                  <a:spcPts val="5"/>
                </a:spcBef>
              </a:pPr>
              <a:r>
                <a:rPr sz="2300" kern="0" spc="8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服务优势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112" name="textbox 112"/>
          <p:cNvSpPr/>
          <p:nvPr/>
        </p:nvSpPr>
        <p:spPr>
          <a:xfrm>
            <a:off x="8120583" y="6883209"/>
            <a:ext cx="2155825" cy="330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标准品交易服务</a:t>
            </a:r>
            <a:endParaRPr sz="23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6004533" y="6672548"/>
            <a:ext cx="728345" cy="803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159" rIns="0" bIns="0"/>
          <a:lstStyle/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商品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交易</a:t>
            </a:r>
            <a:endParaRPr sz="2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58"/>
          <p:cNvSpPr/>
          <p:nvPr/>
        </p:nvSpPr>
        <p:spPr>
          <a:xfrm>
            <a:off x="0" y="5740908"/>
            <a:ext cx="24384000" cy="7975600"/>
          </a:xfrm>
          <a:prstGeom prst="rect">
            <a:avLst/>
          </a:prstGeom>
          <a:solidFill>
            <a:srgbClr val="E6001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/>
        </p:txBody>
      </p:sp>
      <p:pic>
        <p:nvPicPr>
          <p:cNvPr id="160" name="picture 1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831592" y="7222236"/>
            <a:ext cx="18722340" cy="5010912"/>
          </a:xfrm>
          <a:prstGeom prst="rect">
            <a:avLst/>
          </a:prstGeom>
        </p:spPr>
      </p:pic>
      <p:graphicFrame>
        <p:nvGraphicFramePr>
          <p:cNvPr id="162" name="table 162"/>
          <p:cNvGraphicFramePr>
            <a:graphicFrameLocks noGrp="1"/>
          </p:cNvGraphicFramePr>
          <p:nvPr/>
        </p:nvGraphicFramePr>
        <p:xfrm>
          <a:off x="4081188" y="9335315"/>
          <a:ext cx="16059786" cy="1318895"/>
        </p:xfrm>
        <a:graphic>
          <a:graphicData uri="http://schemas.openxmlformats.org/drawingml/2006/table">
            <a:tbl>
              <a:tblPr/>
              <a:tblGrid>
                <a:gridCol w="3343909"/>
                <a:gridCol w="4930140"/>
                <a:gridCol w="4438015"/>
                <a:gridCol w="3347720"/>
              </a:tblGrid>
              <a:tr h="844550">
                <a:tc>
                  <a:txBody>
                    <a:bodyPr/>
                    <a:lstStyle/>
                    <a:p>
                      <a:pPr marL="189230" algn="l" rtl="0" eaLnBrk="0">
                        <a:lnSpc>
                          <a:spcPts val="5685"/>
                        </a:lnSpc>
                      </a:pPr>
                      <a:r>
                        <a:rPr sz="44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30000+</a:t>
                      </a:r>
                      <a:endParaRPr sz="4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0460" algn="l" rtl="0" eaLnBrk="0">
                        <a:lnSpc>
                          <a:spcPts val="5685"/>
                        </a:lnSpc>
                      </a:pPr>
                      <a:r>
                        <a:rPr sz="44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4000000+</a:t>
                      </a:r>
                      <a:endParaRPr sz="4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282700" algn="l" rtl="0" eaLnBrk="0">
                        <a:lnSpc>
                          <a:spcPts val="5685"/>
                        </a:lnSpc>
                      </a:pPr>
                      <a:r>
                        <a:rPr sz="44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5000+</a:t>
                      </a:r>
                      <a:endParaRPr sz="4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224280" algn="l" rtl="0" eaLnBrk="0">
                        <a:lnSpc>
                          <a:spcPts val="5685"/>
                        </a:lnSpc>
                      </a:pPr>
                      <a:r>
                        <a:rPr sz="4400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10000+</a:t>
                      </a:r>
                      <a:endParaRPr sz="4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3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800" dirty="0">
                        <a:latin typeface="Arial" panose="020B0704020202020204"/>
                        <a:ea typeface="Arial" panose="020B0704020202020204"/>
                        <a:cs typeface="Arial" panose="020B0704020202020204"/>
                      </a:endParaRPr>
                    </a:p>
                    <a:p>
                      <a:pPr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27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入驻货主企业</a:t>
                      </a:r>
                      <a:endParaRPr sz="2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800" dirty="0">
                        <a:latin typeface="Arial" panose="020B0704020202020204"/>
                        <a:ea typeface="Arial" panose="020B0704020202020204"/>
                        <a:cs typeface="Arial" panose="020B0704020202020204"/>
                      </a:endParaRPr>
                    </a:p>
                    <a:p>
                      <a:pPr marL="16535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27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服务运力</a:t>
                      </a:r>
                      <a:endParaRPr sz="2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800" dirty="0">
                        <a:latin typeface="Arial" panose="020B0704020202020204"/>
                        <a:ea typeface="Arial" panose="020B0704020202020204"/>
                        <a:cs typeface="Arial" panose="020B07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704020202020204"/>
                        <a:ea typeface="Arial" panose="020B0704020202020204"/>
                        <a:cs typeface="Arial" panose="020B0704020202020204"/>
                      </a:endParaRPr>
                    </a:p>
                    <a:p>
                      <a:pPr marL="1085850" algn="l" rtl="0" eaLnBrk="0">
                        <a:lnSpc>
                          <a:spcPct val="83000"/>
                        </a:lnSpc>
                      </a:pPr>
                      <a:r>
                        <a:rPr sz="27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地面服务团队</a:t>
                      </a:r>
                      <a:endParaRPr sz="2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800" dirty="0">
                        <a:latin typeface="Arial" panose="020B0704020202020204"/>
                        <a:ea typeface="Arial" panose="020B0704020202020204"/>
                        <a:cs typeface="Arial" panose="020B0704020202020204"/>
                      </a:endParaRPr>
                    </a:p>
                    <a:p>
                      <a:pPr algn="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27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三方调度团队</a:t>
                      </a:r>
                      <a:endParaRPr sz="2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4" name="textbox 164"/>
          <p:cNvSpPr/>
          <p:nvPr/>
        </p:nvSpPr>
        <p:spPr>
          <a:xfrm>
            <a:off x="6695800" y="2951836"/>
            <a:ext cx="11266805" cy="1346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429385" algn="l" rtl="0" eaLnBrk="0">
              <a:lnSpc>
                <a:spcPct val="87000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万连通提供物流撮合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sz="2000" kern="0" spc="-3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网络货运、</a:t>
            </a:r>
            <a:r>
              <a:rPr sz="2000" kern="0" spc="-4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车后电商、</a:t>
            </a:r>
            <a:r>
              <a:rPr sz="2000" kern="0" spc="-5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智慧场站、</a:t>
            </a:r>
            <a:r>
              <a:rPr sz="2000" kern="0" spc="-4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车辆管理等服务。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2703830" algn="l" rtl="0" eaLnBrk="0">
              <a:lnSpc>
                <a:spcPct val="86000"/>
              </a:lnSpc>
              <a:spcBef>
                <a:spcPts val="60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为企业提供一站式智能化物流履约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及资源精准匹配。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06000"/>
              </a:lnSpc>
            </a:pPr>
            <a:endParaRPr sz="13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r" rtl="0" eaLnBrk="0">
              <a:lnSpc>
                <a:spcPts val="2590"/>
              </a:lnSpc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平台入驻货主企业超30000+</a:t>
            </a:r>
            <a:r>
              <a:rPr sz="2000" kern="0" spc="-3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，服务运力超400万</a:t>
            </a:r>
            <a:r>
              <a:rPr sz="2000" kern="0" spc="-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，地面服务团队5000+人</a:t>
            </a:r>
            <a:r>
              <a:rPr sz="2000" kern="0" spc="-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，三方调度团队10000人。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pSp>
        <p:nvGrpSpPr>
          <p:cNvPr id="24" name="group 24"/>
          <p:cNvGrpSpPr/>
          <p:nvPr/>
        </p:nvGrpSpPr>
        <p:grpSpPr>
          <a:xfrm rot="21600000">
            <a:off x="522732" y="521208"/>
            <a:ext cx="6670548" cy="911351"/>
            <a:chOff x="0" y="0"/>
            <a:chExt cx="6670548" cy="911351"/>
          </a:xfrm>
        </p:grpSpPr>
        <p:pic>
          <p:nvPicPr>
            <p:cNvPr id="166" name="picture 16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670548" cy="911351"/>
            </a:xfrm>
            <a:prstGeom prst="rect">
              <a:avLst/>
            </a:prstGeom>
          </p:spPr>
        </p:pic>
        <p:sp>
          <p:nvSpPr>
            <p:cNvPr id="168" name="textbox 168"/>
            <p:cNvSpPr/>
            <p:nvPr/>
          </p:nvSpPr>
          <p:spPr>
            <a:xfrm>
              <a:off x="-12700" y="-12700"/>
              <a:ext cx="6696075" cy="9372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sz="7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65735" algn="l" rtl="0" eaLnBrk="0">
                <a:lnSpc>
                  <a:spcPts val="5455"/>
                </a:lnSpc>
                <a:spcBef>
                  <a:spcPts val="0"/>
                </a:spcBef>
              </a:pPr>
              <a:r>
                <a:rPr sz="6100" kern="0" spc="0" baseline="-200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02</a:t>
              </a:r>
              <a:r>
                <a:rPr sz="3900" kern="0" spc="27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  </a:t>
              </a:r>
              <a:r>
                <a:rPr sz="5500" kern="0" spc="0" baseline="1000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物流服务平台（万连</a:t>
              </a:r>
              <a:r>
                <a:rPr sz="5500" kern="0" spc="-10" baseline="1000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通）</a:t>
              </a:r>
              <a:endParaRPr sz="5500" baseline="10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170" name="textbox 170"/>
          <p:cNvSpPr/>
          <p:nvPr/>
        </p:nvSpPr>
        <p:spPr>
          <a:xfrm>
            <a:off x="21976080" y="521208"/>
            <a:ext cx="2407920" cy="635635"/>
          </a:xfrm>
          <a:prstGeom prst="rect">
            <a:avLst/>
          </a:prstGeom>
          <a:solidFill>
            <a:srgbClr val="E6001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9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518795" algn="l" rtl="0" eaLnBrk="0">
              <a:lnSpc>
                <a:spcPct val="86000"/>
              </a:lnSpc>
              <a:spcBef>
                <a:spcPts val="5"/>
              </a:spcBef>
            </a:pPr>
            <a:r>
              <a:rPr sz="2700" kern="0" spc="3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四大平台</a:t>
            </a:r>
            <a:endParaRPr sz="2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8"/>
          <p:cNvGrpSpPr/>
          <p:nvPr/>
        </p:nvGrpSpPr>
        <p:grpSpPr>
          <a:xfrm rot="21600000">
            <a:off x="920496" y="3040202"/>
            <a:ext cx="7434351" cy="9606407"/>
            <a:chOff x="0" y="0"/>
            <a:chExt cx="7434351" cy="9606407"/>
          </a:xfrm>
        </p:grpSpPr>
        <p:sp>
          <p:nvSpPr>
            <p:cNvPr id="208" name="rect 208"/>
            <p:cNvSpPr/>
            <p:nvPr/>
          </p:nvSpPr>
          <p:spPr>
            <a:xfrm>
              <a:off x="0" y="0"/>
              <a:ext cx="7434351" cy="960640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10" name="picture 2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3585121" y="3082442"/>
              <a:ext cx="3368649" cy="558800"/>
            </a:xfrm>
            <a:prstGeom prst="rect">
              <a:avLst/>
            </a:prstGeom>
          </p:spPr>
        </p:pic>
        <p:sp>
          <p:nvSpPr>
            <p:cNvPr id="212" name="textbox 212"/>
            <p:cNvSpPr/>
            <p:nvPr/>
          </p:nvSpPr>
          <p:spPr>
            <a:xfrm>
              <a:off x="319531" y="466013"/>
              <a:ext cx="6659880" cy="82600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sz="6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591820" algn="l" rtl="0" eaLnBrk="0">
                <a:lnSpc>
                  <a:spcPct val="86000"/>
                </a:lnSpc>
                <a:spcBef>
                  <a:spcPts val="5"/>
                </a:spcBef>
              </a:pPr>
              <a:r>
                <a:rPr sz="2300" b="1" kern="0" spc="7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票据服务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r" rtl="0" eaLnBrk="0">
                <a:lnSpc>
                  <a:spcPct val="83000"/>
                </a:lnSpc>
                <a:spcBef>
                  <a:spcPts val="600"/>
                </a:spcBef>
              </a:pPr>
              <a:r>
                <a:rPr sz="2000" kern="0" spc="5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融合万联易达产业生态资源与全国化</a:t>
              </a:r>
              <a:r>
                <a:rPr sz="2000" kern="0" spc="4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服务网络</a:t>
              </a:r>
              <a:r>
                <a:rPr sz="2000" kern="0" spc="-2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4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，构建</a:t>
              </a:r>
              <a:r>
                <a:rPr sz="2000" kern="0" spc="44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4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“供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64770" algn="l" rtl="0" eaLnBrk="0">
                <a:lnSpc>
                  <a:spcPts val="3120"/>
                </a:lnSpc>
              </a:pPr>
              <a:r>
                <a:rPr sz="2000" kern="0" spc="5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应链业务+贴现撮合业务”双模式票据服务体系。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3621405" algn="l" rtl="0" eaLnBrk="0">
                <a:lnSpc>
                  <a:spcPct val="86000"/>
                </a:lnSpc>
                <a:spcBef>
                  <a:spcPts val="600"/>
                </a:spcBef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贴现撮合业务票据服务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2141220" algn="l" rtl="0" eaLnBrk="0">
                <a:lnSpc>
                  <a:spcPct val="93000"/>
                </a:lnSpc>
                <a:spcBef>
                  <a:spcPts val="455"/>
                </a:spcBef>
              </a:pP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★</a:t>
              </a:r>
              <a:r>
                <a:rPr sz="1200" kern="0" spc="37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1500" kern="0" spc="7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大幅降低贴现隐性成</a:t>
              </a:r>
              <a:r>
                <a:rPr sz="1500" kern="0" spc="6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本</a:t>
              </a:r>
              <a:endParaRPr sz="15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2141220" algn="l" rtl="0" eaLnBrk="0">
                <a:lnSpc>
                  <a:spcPct val="94000"/>
                </a:lnSpc>
                <a:spcBef>
                  <a:spcPts val="420"/>
                </a:spcBef>
              </a:pP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★</a:t>
              </a:r>
              <a:r>
                <a:rPr sz="1200" kern="0" spc="3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1500" kern="0" spc="7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直接减轻企业经营</a:t>
              </a:r>
              <a:r>
                <a:rPr sz="1500" kern="0" spc="6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负担</a:t>
              </a:r>
              <a:endParaRPr sz="15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41275" algn="l" rtl="0" eaLnBrk="0">
                <a:lnSpc>
                  <a:spcPct val="94000"/>
                </a:lnSpc>
                <a:spcBef>
                  <a:spcPts val="450"/>
                </a:spcBef>
              </a:pP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★</a:t>
              </a:r>
              <a:r>
                <a:rPr sz="1200" kern="0" spc="4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1500" kern="0" spc="4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线上化、</a:t>
              </a:r>
              <a:r>
                <a:rPr sz="1500" kern="0" spc="-30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1500" kern="0" spc="4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智能化操作</a:t>
              </a:r>
              <a:endParaRPr sz="15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41275" algn="l" rtl="0" eaLnBrk="0">
                <a:lnSpc>
                  <a:spcPct val="93000"/>
                </a:lnSpc>
                <a:spcBef>
                  <a:spcPts val="435"/>
                </a:spcBef>
              </a:pP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★</a:t>
              </a:r>
              <a:r>
                <a:rPr sz="1200" kern="0" spc="3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1500" kern="0" spc="10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实现</a:t>
              </a:r>
              <a:r>
                <a:rPr sz="1500" kern="0" spc="34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1500" kern="0" spc="10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“即申即办、</a:t>
              </a:r>
              <a:r>
                <a:rPr sz="1500" kern="0" spc="-30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1500" kern="0" spc="10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快速到账”</a:t>
              </a:r>
              <a:endParaRPr sz="15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41275" algn="l" rtl="0" eaLnBrk="0">
                <a:lnSpc>
                  <a:spcPct val="94000"/>
                </a:lnSpc>
                <a:spcBef>
                  <a:spcPts val="420"/>
                </a:spcBef>
              </a:pP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★</a:t>
              </a:r>
              <a:r>
                <a:rPr sz="1200" kern="0" spc="3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1500" kern="0" spc="6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加速企业资金周转</a:t>
              </a:r>
              <a:endParaRPr sz="15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pic>
          <p:nvPicPr>
            <p:cNvPr id="214" name="picture 2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332231" y="478713"/>
              <a:ext cx="492251" cy="492252"/>
            </a:xfrm>
            <a:prstGeom prst="rect">
              <a:avLst/>
            </a:prstGeom>
          </p:spPr>
        </p:pic>
        <p:pic>
          <p:nvPicPr>
            <p:cNvPr id="216" name="picture 2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588893" y="4900069"/>
              <a:ext cx="4052648" cy="2776646"/>
            </a:xfrm>
            <a:prstGeom prst="rect">
              <a:avLst/>
            </a:prstGeom>
          </p:spPr>
        </p:pic>
        <p:pic>
          <p:nvPicPr>
            <p:cNvPr id="218" name="picture 2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332904" y="3082442"/>
              <a:ext cx="3035300" cy="558800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 rot="21600000">
            <a:off x="8474964" y="3040202"/>
            <a:ext cx="7434071" cy="9606407"/>
            <a:chOff x="0" y="0"/>
            <a:chExt cx="7434071" cy="9606407"/>
          </a:xfrm>
        </p:grpSpPr>
        <p:sp>
          <p:nvSpPr>
            <p:cNvPr id="220" name="rect 220"/>
            <p:cNvSpPr/>
            <p:nvPr/>
          </p:nvSpPr>
          <p:spPr>
            <a:xfrm>
              <a:off x="0" y="0"/>
              <a:ext cx="7434071" cy="960640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22" name="picture 2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426720" y="2696134"/>
              <a:ext cx="6579107" cy="2485643"/>
            </a:xfrm>
            <a:prstGeom prst="rect">
              <a:avLst/>
            </a:prstGeom>
          </p:spPr>
        </p:pic>
        <p:sp>
          <p:nvSpPr>
            <p:cNvPr id="224" name="textbox 224"/>
            <p:cNvSpPr/>
            <p:nvPr/>
          </p:nvSpPr>
          <p:spPr>
            <a:xfrm>
              <a:off x="318007" y="466013"/>
              <a:ext cx="6727190" cy="81368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</a:pPr>
              <a:endParaRPr sz="6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591185" algn="l" rtl="0" eaLnBrk="0">
                <a:lnSpc>
                  <a:spcPct val="87000"/>
                </a:lnSpc>
                <a:spcBef>
                  <a:spcPts val="0"/>
                </a:spcBef>
              </a:pPr>
              <a:r>
                <a:rPr sz="2300" b="1" kern="0" spc="7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信贷服务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66675" algn="l" rtl="0" eaLnBrk="0">
                <a:lnSpc>
                  <a:spcPct val="83000"/>
                </a:lnSpc>
                <a:spcBef>
                  <a:spcPts val="605"/>
                </a:spcBef>
              </a:pPr>
              <a:r>
                <a:rPr sz="2000" kern="0" spc="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联合各大金融机构打造覆盖</a:t>
              </a:r>
              <a:r>
                <a:rPr sz="2000" kern="0" spc="4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“经营全链路、</a:t>
              </a:r>
              <a:r>
                <a:rPr sz="2000" kern="0" spc="-44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客群全层级</a:t>
              </a:r>
              <a:r>
                <a:rPr sz="2000" kern="0" spc="-47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”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77470" algn="l" rtl="0" eaLnBrk="0">
                <a:lnSpc>
                  <a:spcPts val="3125"/>
                </a:lnSpc>
              </a:pPr>
              <a:r>
                <a:rPr sz="2000" kern="0" spc="-2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的信贷产品服务矩阵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577850" algn="l" rtl="0" eaLnBrk="0">
                <a:lnSpc>
                  <a:spcPct val="86000"/>
                </a:lnSpc>
                <a:spcBef>
                  <a:spcPts val="610"/>
                </a:spcBef>
              </a:pP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通用场景</a:t>
              </a:r>
              <a:r>
                <a:rPr sz="2000" kern="0" spc="3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         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商品交易场</a:t>
              </a: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景</a:t>
              </a:r>
              <a:r>
                <a:rPr sz="2000" kern="0" spc="5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      </a:t>
              </a: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物流运输场景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3095625" algn="l" rtl="0" eaLnBrk="0">
                <a:lnSpc>
                  <a:spcPct val="88000"/>
                </a:lnSpc>
                <a:spcBef>
                  <a:spcPts val="450"/>
                </a:spcBef>
              </a:pPr>
              <a:r>
                <a:rPr sz="1500" kern="0" spc="9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分步贷</a:t>
              </a:r>
              <a:endParaRPr sz="15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5273040" algn="l" rtl="0" eaLnBrk="0">
                <a:lnSpc>
                  <a:spcPct val="81000"/>
                </a:lnSpc>
                <a:spcBef>
                  <a:spcPts val="1295"/>
                </a:spcBef>
              </a:pPr>
              <a:r>
                <a:rPr sz="1500" kern="0" spc="8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车险分期</a:t>
              </a:r>
              <a:endParaRPr sz="15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3096260" algn="l" rtl="0" eaLnBrk="0">
                <a:lnSpc>
                  <a:spcPct val="86000"/>
                </a:lnSpc>
                <a:spcBef>
                  <a:spcPts val="5"/>
                </a:spcBef>
              </a:pPr>
              <a:r>
                <a:rPr sz="1500" kern="0" spc="8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订单贷</a:t>
              </a:r>
              <a:endParaRPr sz="15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851535" algn="l" rtl="0" eaLnBrk="0">
                <a:lnSpc>
                  <a:spcPct val="86000"/>
                </a:lnSpc>
                <a:spcBef>
                  <a:spcPts val="610"/>
                </a:spcBef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普惠门槛降低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5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721995" algn="l" rtl="0" eaLnBrk="0">
                <a:lnSpc>
                  <a:spcPct val="86000"/>
                </a:lnSpc>
                <a:spcBef>
                  <a:spcPts val="0"/>
                </a:spcBef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现金流压力缓解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pic>
          <p:nvPicPr>
            <p:cNvPr id="226" name="picture 2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330707" y="478713"/>
              <a:ext cx="492252" cy="492252"/>
            </a:xfrm>
            <a:prstGeom prst="rect">
              <a:avLst/>
            </a:prstGeom>
          </p:spPr>
        </p:pic>
        <p:pic>
          <p:nvPicPr>
            <p:cNvPr id="228" name="picture 22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4855464" y="5751754"/>
              <a:ext cx="749808" cy="749808"/>
            </a:xfrm>
            <a:prstGeom prst="rect">
              <a:avLst/>
            </a:prstGeom>
          </p:spPr>
        </p:pic>
        <p:pic>
          <p:nvPicPr>
            <p:cNvPr id="230" name="picture 23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4855464" y="7385482"/>
              <a:ext cx="749808" cy="749808"/>
            </a:xfrm>
            <a:prstGeom prst="rect">
              <a:avLst/>
            </a:prstGeom>
          </p:spPr>
        </p:pic>
        <p:pic>
          <p:nvPicPr>
            <p:cNvPr id="232" name="picture 23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575816" y="5751754"/>
              <a:ext cx="749807" cy="749808"/>
            </a:xfrm>
            <a:prstGeom prst="rect">
              <a:avLst/>
            </a:prstGeom>
          </p:spPr>
        </p:pic>
        <p:pic>
          <p:nvPicPr>
            <p:cNvPr id="234" name="picture 23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575816" y="7385482"/>
              <a:ext cx="749807" cy="749808"/>
            </a:xfrm>
            <a:prstGeom prst="rect">
              <a:avLst/>
            </a:prstGeom>
          </p:spPr>
        </p:pic>
        <p:sp>
          <p:nvSpPr>
            <p:cNvPr id="236" name="path 236"/>
            <p:cNvSpPr/>
            <p:nvPr/>
          </p:nvSpPr>
          <p:spPr>
            <a:xfrm>
              <a:off x="2876333" y="3492907"/>
              <a:ext cx="1524000" cy="12191"/>
            </a:xfrm>
            <a:custGeom>
              <a:avLst/>
              <a:gdLst/>
              <a:ahLst/>
              <a:cxnLst/>
              <a:rect l="0" t="0" r="0" b="0"/>
              <a:pathLst>
                <a:path w="2400" h="19">
                  <a:moveTo>
                    <a:pt x="0" y="9"/>
                  </a:moveTo>
                  <a:lnTo>
                    <a:pt x="2400" y="9"/>
                  </a:lnTo>
                </a:path>
              </a:pathLst>
            </a:custGeom>
            <a:noFill/>
            <a:ln w="12192" cap="flat">
              <a:solidFill>
                <a:srgbClr val="FFFFFF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8" name="path 238"/>
            <p:cNvSpPr/>
            <p:nvPr/>
          </p:nvSpPr>
          <p:spPr>
            <a:xfrm>
              <a:off x="5129060" y="3492907"/>
              <a:ext cx="1524000" cy="12191"/>
            </a:xfrm>
            <a:custGeom>
              <a:avLst/>
              <a:gdLst/>
              <a:ahLst/>
              <a:cxnLst/>
              <a:rect l="0" t="0" r="0" b="0"/>
              <a:pathLst>
                <a:path w="2400" h="19">
                  <a:moveTo>
                    <a:pt x="0" y="9"/>
                  </a:moveTo>
                  <a:lnTo>
                    <a:pt x="2400" y="9"/>
                  </a:lnTo>
                </a:path>
              </a:pathLst>
            </a:custGeom>
            <a:noFill/>
            <a:ln w="12192" cap="flat">
              <a:solidFill>
                <a:srgbClr val="FFFFFF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0" name="path 240"/>
            <p:cNvSpPr/>
            <p:nvPr/>
          </p:nvSpPr>
          <p:spPr>
            <a:xfrm>
              <a:off x="892809" y="3492907"/>
              <a:ext cx="1016000" cy="12191"/>
            </a:xfrm>
            <a:custGeom>
              <a:avLst/>
              <a:gdLst/>
              <a:ahLst/>
              <a:cxnLst/>
              <a:rect l="0" t="0" r="0" b="0"/>
              <a:pathLst>
                <a:path w="1600" h="19">
                  <a:moveTo>
                    <a:pt x="0" y="9"/>
                  </a:moveTo>
                  <a:lnTo>
                    <a:pt x="1600" y="9"/>
                  </a:lnTo>
                </a:path>
              </a:pathLst>
            </a:custGeom>
            <a:noFill/>
            <a:ln w="12192" cap="flat">
              <a:solidFill>
                <a:srgbClr val="FFFFFF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2" name="path 242"/>
            <p:cNvSpPr/>
            <p:nvPr/>
          </p:nvSpPr>
          <p:spPr>
            <a:xfrm>
              <a:off x="5586260" y="4865814"/>
              <a:ext cx="812800" cy="10667"/>
            </a:xfrm>
            <a:custGeom>
              <a:avLst/>
              <a:gdLst/>
              <a:ahLst/>
              <a:cxnLst/>
              <a:rect l="0" t="0" r="0" b="0"/>
              <a:pathLst>
                <a:path w="1280" h="16">
                  <a:moveTo>
                    <a:pt x="0" y="8"/>
                  </a:moveTo>
                  <a:lnTo>
                    <a:pt x="1280" y="8"/>
                  </a:ln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4" name="path 244"/>
            <p:cNvSpPr/>
            <p:nvPr/>
          </p:nvSpPr>
          <p:spPr>
            <a:xfrm>
              <a:off x="1068806" y="4696904"/>
              <a:ext cx="609600" cy="10667"/>
            </a:xfrm>
            <a:custGeom>
              <a:avLst/>
              <a:gdLst/>
              <a:ahLst/>
              <a:cxnLst/>
              <a:rect l="0" t="0" r="0" b="0"/>
              <a:pathLst>
                <a:path w="960" h="16">
                  <a:moveTo>
                    <a:pt x="0" y="8"/>
                  </a:moveTo>
                  <a:lnTo>
                    <a:pt x="960" y="8"/>
                  </a:ln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6" name="path 246"/>
            <p:cNvSpPr/>
            <p:nvPr/>
          </p:nvSpPr>
          <p:spPr>
            <a:xfrm>
              <a:off x="3412236" y="4501960"/>
              <a:ext cx="609600" cy="10667"/>
            </a:xfrm>
            <a:custGeom>
              <a:avLst/>
              <a:gdLst/>
              <a:ahLst/>
              <a:cxnLst/>
              <a:rect l="0" t="0" r="0" b="0"/>
              <a:pathLst>
                <a:path w="960" h="16">
                  <a:moveTo>
                    <a:pt x="0" y="8"/>
                  </a:moveTo>
                  <a:lnTo>
                    <a:pt x="960" y="8"/>
                  </a:ln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8" name="path 248"/>
            <p:cNvSpPr/>
            <p:nvPr/>
          </p:nvSpPr>
          <p:spPr>
            <a:xfrm>
              <a:off x="3412236" y="4769930"/>
              <a:ext cx="609600" cy="10667"/>
            </a:xfrm>
            <a:custGeom>
              <a:avLst/>
              <a:gdLst/>
              <a:ahLst/>
              <a:cxnLst/>
              <a:rect l="0" t="0" r="0" b="0"/>
              <a:pathLst>
                <a:path w="960" h="16">
                  <a:moveTo>
                    <a:pt x="0" y="8"/>
                  </a:moveTo>
                  <a:lnTo>
                    <a:pt x="960" y="8"/>
                  </a:ln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0" name="path 250"/>
            <p:cNvSpPr/>
            <p:nvPr/>
          </p:nvSpPr>
          <p:spPr>
            <a:xfrm>
              <a:off x="3412236" y="5037900"/>
              <a:ext cx="609600" cy="10667"/>
            </a:xfrm>
            <a:custGeom>
              <a:avLst/>
              <a:gdLst/>
              <a:ahLst/>
              <a:cxnLst/>
              <a:rect l="0" t="0" r="0" b="0"/>
              <a:pathLst>
                <a:path w="960" h="16">
                  <a:moveTo>
                    <a:pt x="0" y="8"/>
                  </a:moveTo>
                  <a:lnTo>
                    <a:pt x="960" y="8"/>
                  </a:ln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2" name="path 252"/>
            <p:cNvSpPr/>
            <p:nvPr/>
          </p:nvSpPr>
          <p:spPr>
            <a:xfrm>
              <a:off x="5687860" y="4597844"/>
              <a:ext cx="609600" cy="10667"/>
            </a:xfrm>
            <a:custGeom>
              <a:avLst/>
              <a:gdLst/>
              <a:ahLst/>
              <a:cxnLst/>
              <a:rect l="0" t="0" r="0" b="0"/>
              <a:pathLst>
                <a:path w="960" h="16">
                  <a:moveTo>
                    <a:pt x="0" y="8"/>
                  </a:moveTo>
                  <a:lnTo>
                    <a:pt x="960" y="8"/>
                  </a:ln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group 32"/>
          <p:cNvGrpSpPr/>
          <p:nvPr/>
        </p:nvGrpSpPr>
        <p:grpSpPr>
          <a:xfrm rot="21600000">
            <a:off x="16025699" y="3040202"/>
            <a:ext cx="7433676" cy="9606407"/>
            <a:chOff x="0" y="0"/>
            <a:chExt cx="7433676" cy="9606407"/>
          </a:xfrm>
        </p:grpSpPr>
        <p:sp>
          <p:nvSpPr>
            <p:cNvPr id="254" name="rect 254"/>
            <p:cNvSpPr/>
            <p:nvPr/>
          </p:nvSpPr>
          <p:spPr>
            <a:xfrm>
              <a:off x="0" y="0"/>
              <a:ext cx="7433676" cy="960640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56" name="picture 25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622476" y="6387262"/>
              <a:ext cx="6277356" cy="2746248"/>
            </a:xfrm>
            <a:prstGeom prst="rect">
              <a:avLst/>
            </a:prstGeom>
          </p:spPr>
        </p:pic>
        <p:pic>
          <p:nvPicPr>
            <p:cNvPr id="258" name="picture 25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404544" y="4273475"/>
              <a:ext cx="6611112" cy="1816607"/>
            </a:xfrm>
            <a:prstGeom prst="rect">
              <a:avLst/>
            </a:prstGeom>
          </p:spPr>
        </p:pic>
        <p:sp>
          <p:nvSpPr>
            <p:cNvPr id="260" name="textbox 260"/>
            <p:cNvSpPr/>
            <p:nvPr/>
          </p:nvSpPr>
          <p:spPr>
            <a:xfrm>
              <a:off x="320216" y="466013"/>
              <a:ext cx="6814185" cy="81191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6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591820" algn="l" rtl="0" eaLnBrk="0">
                <a:lnSpc>
                  <a:spcPct val="86000"/>
                </a:lnSpc>
                <a:spcBef>
                  <a:spcPts val="0"/>
                </a:spcBef>
              </a:pPr>
              <a:r>
                <a:rPr sz="2300" b="1" kern="0" spc="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供应链金融服务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r" rtl="0" eaLnBrk="0">
                <a:lnSpc>
                  <a:spcPct val="83000"/>
                </a:lnSpc>
                <a:spcBef>
                  <a:spcPts val="605"/>
                </a:spcBef>
              </a:pPr>
              <a:r>
                <a:rPr sz="2000" kern="0" spc="2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通过数字化债权凭证技术</a:t>
              </a:r>
              <a:r>
                <a:rPr sz="2000" kern="0" spc="-34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2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，将核心企业信用进行标准</a:t>
              </a:r>
              <a:r>
                <a:rPr sz="2000" kern="0" spc="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化、</a:t>
              </a:r>
              <a:r>
                <a:rPr sz="2000" kern="0" spc="-44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可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64135" indent="2540" algn="l" rtl="0" eaLnBrk="0">
                <a:lnSpc>
                  <a:spcPct val="132000"/>
                </a:lnSpc>
                <a:spcBef>
                  <a:spcPts val="60"/>
                </a:spcBef>
              </a:pPr>
              <a:r>
                <a:rPr sz="2000" kern="0" spc="2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拆分、</a:t>
              </a:r>
              <a:r>
                <a:rPr sz="2000" kern="0" spc="-45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2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可流转的封装</a:t>
              </a:r>
              <a:r>
                <a:rPr sz="2000" kern="0" spc="-3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2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，使供应链上远离核心</a:t>
              </a:r>
              <a:r>
                <a:rPr sz="2000" kern="0" spc="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企业的中小微企</a:t>
              </a:r>
              <a:r>
                <a:rPr sz="2000" kern="0" spc="5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业凭借</a:t>
              </a:r>
              <a:r>
                <a:rPr sz="2000" kern="0" spc="4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5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“万联信通”</a:t>
              </a:r>
              <a:r>
                <a:rPr sz="2000" kern="0" spc="-5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5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电子债权凭证获得低成本融资</a:t>
              </a:r>
              <a:r>
                <a:rPr sz="2000" kern="0" spc="-32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5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，实现优</a:t>
              </a:r>
              <a:r>
                <a:rPr sz="2000" kern="0" spc="1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质核心企业信用在全链</a:t>
              </a:r>
              <a:r>
                <a:rPr sz="2000" kern="0" spc="10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条穿透式释放</a:t>
              </a:r>
              <a:r>
                <a:rPr sz="2000" kern="0" spc="-24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10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，产业链整体降本增</a:t>
              </a: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效。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687070" algn="l" rtl="0" eaLnBrk="0">
                <a:lnSpc>
                  <a:spcPct val="86000"/>
                </a:lnSpc>
                <a:spcBef>
                  <a:spcPts val="605"/>
                </a:spcBef>
              </a:pP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数字化债权凭证技术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4462780" algn="l" rtl="0" eaLnBrk="0">
                <a:lnSpc>
                  <a:spcPct val="86000"/>
                </a:lnSpc>
                <a:spcBef>
                  <a:spcPts val="600"/>
                </a:spcBef>
              </a:pP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★  </a:t>
              </a:r>
              <a:r>
                <a:rPr sz="2000" kern="0" spc="-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产业链降本增效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5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4462780" algn="l" rtl="0" eaLnBrk="0">
                <a:lnSpc>
                  <a:spcPct val="86000"/>
                </a:lnSpc>
                <a:spcBef>
                  <a:spcPts val="0"/>
                </a:spcBef>
              </a:pP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★  </a:t>
              </a:r>
              <a:r>
                <a:rPr sz="2000" kern="0" spc="-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操作便捷高效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pic>
          <p:nvPicPr>
            <p:cNvPr id="262" name="picture 26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332916" y="478713"/>
              <a:ext cx="492252" cy="492252"/>
            </a:xfrm>
            <a:prstGeom prst="rect">
              <a:avLst/>
            </a:prstGeom>
          </p:spPr>
        </p:pic>
        <p:pic>
          <p:nvPicPr>
            <p:cNvPr id="264" name="picture 26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914828" y="4584370"/>
              <a:ext cx="502919" cy="559308"/>
            </a:xfrm>
            <a:prstGeom prst="rect">
              <a:avLst/>
            </a:prstGeom>
          </p:spPr>
        </p:pic>
      </p:grpSp>
      <p:grpSp>
        <p:nvGrpSpPr>
          <p:cNvPr id="34" name="group 34"/>
          <p:cNvGrpSpPr/>
          <p:nvPr/>
        </p:nvGrpSpPr>
        <p:grpSpPr>
          <a:xfrm rot="21600000">
            <a:off x="522732" y="521208"/>
            <a:ext cx="7802880" cy="911351"/>
            <a:chOff x="0" y="0"/>
            <a:chExt cx="7802880" cy="911351"/>
          </a:xfrm>
        </p:grpSpPr>
        <p:pic>
          <p:nvPicPr>
            <p:cNvPr id="266" name="picture 26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7802880" cy="911351"/>
            </a:xfrm>
            <a:prstGeom prst="rect">
              <a:avLst/>
            </a:prstGeom>
          </p:spPr>
        </p:pic>
        <p:sp>
          <p:nvSpPr>
            <p:cNvPr id="268" name="textbox 268"/>
            <p:cNvSpPr/>
            <p:nvPr/>
          </p:nvSpPr>
          <p:spPr>
            <a:xfrm>
              <a:off x="-12700" y="-12700"/>
              <a:ext cx="7828280" cy="9372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sz="7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6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65735" algn="l" rtl="0" eaLnBrk="0">
                <a:lnSpc>
                  <a:spcPts val="5450"/>
                </a:lnSpc>
              </a:pPr>
              <a:r>
                <a:rPr sz="6100" kern="0" spc="-10" baseline="-200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03</a:t>
              </a:r>
              <a:r>
                <a:rPr sz="3900" kern="0" spc="30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  </a:t>
              </a:r>
              <a:r>
                <a:rPr sz="5500" kern="0" spc="-10" baseline="10000" dirty="0">
                  <a:solidFill>
                    <a:srgbClr val="0F68B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数智金融平台（万连融）</a:t>
              </a:r>
              <a:endParaRPr sz="5500" baseline="10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270" name="textbox 270"/>
          <p:cNvSpPr/>
          <p:nvPr/>
        </p:nvSpPr>
        <p:spPr>
          <a:xfrm>
            <a:off x="1509533" y="2111770"/>
            <a:ext cx="14958695" cy="289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万连融是万联易达产业互联网生态系统的金融管理中心</a:t>
            </a:r>
            <a:r>
              <a:rPr sz="2000" kern="0" spc="-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，联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合各大金融机构为生态伙伴提供高效、</a:t>
            </a:r>
            <a:r>
              <a:rPr sz="2000" kern="0" spc="-4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专业、</a:t>
            </a:r>
            <a:r>
              <a:rPr sz="2000" kern="0" spc="-4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安全的一站式金融解决方案。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2" name="textbox 272"/>
          <p:cNvSpPr/>
          <p:nvPr/>
        </p:nvSpPr>
        <p:spPr>
          <a:xfrm>
            <a:off x="16601249" y="9934107"/>
            <a:ext cx="1773554" cy="1691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★ 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信用下沉赋能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00000"/>
              </a:lnSpc>
            </a:pPr>
            <a:endParaRPr sz="5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0"/>
              </a:spcBef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★ 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资金精准直达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4" name="textbox 274"/>
          <p:cNvSpPr/>
          <p:nvPr/>
        </p:nvSpPr>
        <p:spPr>
          <a:xfrm>
            <a:off x="21976080" y="521208"/>
            <a:ext cx="2407920" cy="635635"/>
          </a:xfrm>
          <a:prstGeom prst="rect">
            <a:avLst/>
          </a:prstGeom>
          <a:solidFill>
            <a:srgbClr val="0F68B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9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518795" algn="l" rtl="0" eaLnBrk="0">
              <a:lnSpc>
                <a:spcPct val="86000"/>
              </a:lnSpc>
              <a:spcBef>
                <a:spcPts val="5"/>
              </a:spcBef>
            </a:pPr>
            <a:r>
              <a:rPr sz="2700" kern="0" spc="3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四大平台</a:t>
            </a:r>
            <a:endParaRPr sz="2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6" name="textbox 276"/>
          <p:cNvSpPr/>
          <p:nvPr/>
        </p:nvSpPr>
        <p:spPr>
          <a:xfrm>
            <a:off x="4881848" y="10997854"/>
            <a:ext cx="2889250" cy="508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★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贸易协作与金融服务深度融合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ct val="94000"/>
              </a:lnSpc>
              <a:spcBef>
                <a:spcPts val="420"/>
              </a:spcBef>
            </a:pP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★</a:t>
            </a:r>
            <a:r>
              <a:rPr sz="1200" kern="0" spc="3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全周期、</a:t>
            </a:r>
            <a:r>
              <a:rPr sz="1500" kern="0" spc="-2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一体化票据解决方案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8" name="textbox 278"/>
          <p:cNvSpPr/>
          <p:nvPr/>
        </p:nvSpPr>
        <p:spPr>
          <a:xfrm>
            <a:off x="1571919" y="6233861"/>
            <a:ext cx="2311400" cy="287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供应链业务票据服务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0" name="textbox 280"/>
          <p:cNvSpPr/>
          <p:nvPr/>
        </p:nvSpPr>
        <p:spPr>
          <a:xfrm>
            <a:off x="12838196" y="11355849"/>
            <a:ext cx="1546860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生态资源整合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2" name="textbox 282"/>
          <p:cNvSpPr/>
          <p:nvPr/>
        </p:nvSpPr>
        <p:spPr>
          <a:xfrm>
            <a:off x="12838705" y="9674775"/>
            <a:ext cx="1546225" cy="288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场景精准适配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19576330" y="10531383"/>
            <a:ext cx="428625" cy="444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indent="635" algn="l" rtl="0" eaLnBrk="0">
              <a:lnSpc>
                <a:spcPct val="92000"/>
              </a:lnSpc>
            </a:pP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服务</a:t>
            </a: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优势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14153366" y="7418927"/>
            <a:ext cx="631190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运单贷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8" name="textbox 288"/>
          <p:cNvSpPr/>
          <p:nvPr/>
        </p:nvSpPr>
        <p:spPr>
          <a:xfrm>
            <a:off x="9534717" y="7519607"/>
            <a:ext cx="63119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万业贷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0" name="textbox 290"/>
          <p:cNvSpPr/>
          <p:nvPr/>
        </p:nvSpPr>
        <p:spPr>
          <a:xfrm>
            <a:off x="11887261" y="7591215"/>
            <a:ext cx="621665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电商贷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6"/>
          <p:cNvGrpSpPr/>
          <p:nvPr/>
        </p:nvGrpSpPr>
        <p:grpSpPr>
          <a:xfrm rot="21600000">
            <a:off x="1341120" y="3688080"/>
            <a:ext cx="10602468" cy="9050032"/>
            <a:chOff x="0" y="0"/>
            <a:chExt cx="10602468" cy="9050032"/>
          </a:xfrm>
        </p:grpSpPr>
        <p:pic>
          <p:nvPicPr>
            <p:cNvPr id="292" name="picture 29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0602468" cy="8503920"/>
            </a:xfrm>
            <a:prstGeom prst="rect">
              <a:avLst/>
            </a:prstGeom>
          </p:spPr>
        </p:pic>
        <p:sp>
          <p:nvSpPr>
            <p:cNvPr id="294" name="textbox 294"/>
            <p:cNvSpPr/>
            <p:nvPr/>
          </p:nvSpPr>
          <p:spPr>
            <a:xfrm>
              <a:off x="1357157" y="5622495"/>
              <a:ext cx="7811769" cy="3449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2000" kern="0" spc="0" dirty="0">
                  <a:solidFill>
                    <a:srgbClr val="CA2B23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帮助企业降本增效                                               解决方案级服务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3839210" algn="l" rtl="0" eaLnBrk="0">
                <a:lnSpc>
                  <a:spcPct val="86000"/>
                </a:lnSpc>
                <a:spcBef>
                  <a:spcPts val="120"/>
                </a:spcBef>
              </a:pPr>
              <a:r>
                <a:rPr sz="2700" b="1" kern="0" spc="5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服务</a:t>
              </a:r>
              <a:endParaRPr sz="2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3838575" algn="l" rtl="0" eaLnBrk="0">
                <a:lnSpc>
                  <a:spcPct val="86000"/>
                </a:lnSpc>
                <a:spcBef>
                  <a:spcPts val="245"/>
                </a:spcBef>
              </a:pPr>
              <a:r>
                <a:rPr sz="2700" b="1" kern="0" spc="5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优势</a:t>
              </a:r>
              <a:endParaRPr sz="2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5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3528060" algn="l" rtl="0" eaLnBrk="0">
                <a:lnSpc>
                  <a:spcPct val="86000"/>
                </a:lnSpc>
                <a:spcBef>
                  <a:spcPts val="0"/>
                </a:spcBef>
              </a:pPr>
              <a:r>
                <a:rPr sz="2000" kern="0" spc="-10" dirty="0">
                  <a:solidFill>
                    <a:srgbClr val="CA2B23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智能化服务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296" name="textbox 296"/>
            <p:cNvSpPr/>
            <p:nvPr/>
          </p:nvSpPr>
          <p:spPr>
            <a:xfrm>
              <a:off x="575132" y="75869"/>
              <a:ext cx="1411605" cy="45466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2300" b="1" kern="0" spc="7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服务内容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575310" algn="l" rtl="0" eaLnBrk="0">
                <a:lnSpc>
                  <a:spcPct val="85000"/>
                </a:lnSpc>
                <a:spcBef>
                  <a:spcPts val="610"/>
                </a:spcBef>
              </a:pP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初创期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r" rtl="0" eaLnBrk="0">
                <a:lnSpc>
                  <a:spcPct val="88000"/>
                </a:lnSpc>
                <a:spcBef>
                  <a:spcPts val="515"/>
                </a:spcBef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设立服务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r" rtl="0" eaLnBrk="0">
                <a:lnSpc>
                  <a:spcPts val="2780"/>
                </a:lnSpc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创业空间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r" rtl="0" eaLnBrk="0">
                <a:lnSpc>
                  <a:spcPct val="86000"/>
                </a:lnSpc>
                <a:spcBef>
                  <a:spcPts val="1055"/>
                </a:spcBef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创业指导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r" rtl="0" eaLnBrk="0">
                <a:lnSpc>
                  <a:spcPts val="2820"/>
                </a:lnSpc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人力资源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r" rtl="0" eaLnBrk="0">
                <a:lnSpc>
                  <a:spcPct val="88000"/>
                </a:lnSpc>
                <a:spcBef>
                  <a:spcPts val="1015"/>
                </a:spcBef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财税服务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55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4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905510" algn="l" rtl="0" eaLnBrk="0">
                <a:lnSpc>
                  <a:spcPts val="290"/>
                </a:lnSpc>
              </a:pPr>
              <a:r>
                <a:rPr sz="1600" kern="0" spc="-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...</a:t>
              </a:r>
              <a:endParaRPr sz="16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298" name="textbox 298"/>
            <p:cNvSpPr/>
            <p:nvPr/>
          </p:nvSpPr>
          <p:spPr>
            <a:xfrm>
              <a:off x="8745817" y="1123550"/>
              <a:ext cx="937260" cy="4092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26670" algn="l" rtl="0" eaLnBrk="0">
                <a:lnSpc>
                  <a:spcPct val="85000"/>
                </a:lnSpc>
              </a:pPr>
              <a:r>
                <a:rPr sz="2000" kern="0" spc="-2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转型期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15"/>
                </a:spcBef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转型咨询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3970" algn="l" rtl="0" eaLnBrk="0">
                <a:lnSpc>
                  <a:spcPct val="87000"/>
                </a:lnSpc>
                <a:spcBef>
                  <a:spcPts val="1030"/>
                </a:spcBef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并购上市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3970" algn="l" rtl="0" eaLnBrk="0">
                <a:lnSpc>
                  <a:spcPct val="87000"/>
                </a:lnSpc>
                <a:spcBef>
                  <a:spcPts val="1025"/>
                </a:spcBef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能源环保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3335" algn="l" rtl="0" eaLnBrk="0">
                <a:lnSpc>
                  <a:spcPct val="87000"/>
                </a:lnSpc>
                <a:spcBef>
                  <a:spcPts val="1035"/>
                </a:spcBef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绿色转型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1040"/>
                </a:spcBef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技术咨询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4605" algn="l" rtl="0" eaLnBrk="0">
                <a:lnSpc>
                  <a:spcPct val="87000"/>
                </a:lnSpc>
                <a:spcBef>
                  <a:spcPts val="1035"/>
                </a:spcBef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商业策划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3970" algn="l" rtl="0" eaLnBrk="0">
                <a:lnSpc>
                  <a:spcPct val="88000"/>
                </a:lnSpc>
                <a:spcBef>
                  <a:spcPts val="1010"/>
                </a:spcBef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业务重组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3970" algn="l" rtl="0" eaLnBrk="0">
                <a:lnSpc>
                  <a:spcPct val="88000"/>
                </a:lnSpc>
                <a:spcBef>
                  <a:spcPts val="1010"/>
                </a:spcBef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资产处置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5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4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389890" algn="l" rtl="0" eaLnBrk="0">
                <a:lnSpc>
                  <a:spcPts val="310"/>
                </a:lnSpc>
                <a:spcBef>
                  <a:spcPts val="0"/>
                </a:spcBef>
              </a:pPr>
              <a:r>
                <a:rPr sz="1700" kern="0" spc="-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…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00" name="textbox 300"/>
            <p:cNvSpPr/>
            <p:nvPr/>
          </p:nvSpPr>
          <p:spPr>
            <a:xfrm>
              <a:off x="3615474" y="1308464"/>
              <a:ext cx="936625" cy="34410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01600" algn="l" rtl="0" eaLnBrk="0">
                <a:lnSpc>
                  <a:spcPct val="86000"/>
                </a:lnSpc>
              </a:pPr>
              <a:r>
                <a:rPr sz="2000" kern="0" spc="-2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扩张期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3970" algn="l" rtl="0" eaLnBrk="0">
                <a:lnSpc>
                  <a:spcPct val="88000"/>
                </a:lnSpc>
                <a:spcBef>
                  <a:spcPts val="520"/>
                </a:spcBef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财税服务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24765" algn="l" rtl="0" eaLnBrk="0">
                <a:lnSpc>
                  <a:spcPct val="87000"/>
                </a:lnSpc>
                <a:spcBef>
                  <a:spcPts val="1020"/>
                </a:spcBef>
              </a:pPr>
              <a:r>
                <a:rPr sz="1700" kern="0" spc="6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品牌策划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3970" algn="l" rtl="0" eaLnBrk="0">
                <a:lnSpc>
                  <a:spcPct val="87000"/>
                </a:lnSpc>
                <a:spcBef>
                  <a:spcPts val="1040"/>
                </a:spcBef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商业策划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4605" algn="l" rtl="0" eaLnBrk="0">
                <a:lnSpc>
                  <a:spcPct val="87000"/>
                </a:lnSpc>
                <a:spcBef>
                  <a:spcPts val="1020"/>
                </a:spcBef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营销推广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1030"/>
                </a:spcBef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创意设计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56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4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396240" algn="l" rtl="0" eaLnBrk="0">
                <a:lnSpc>
                  <a:spcPts val="290"/>
                </a:lnSpc>
              </a:pPr>
              <a:r>
                <a:rPr sz="1600" kern="0" spc="-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...</a:t>
              </a:r>
              <a:endParaRPr sz="16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02" name="textbox 302"/>
            <p:cNvSpPr/>
            <p:nvPr/>
          </p:nvSpPr>
          <p:spPr>
            <a:xfrm>
              <a:off x="6180645" y="531982"/>
              <a:ext cx="937260" cy="2730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49530" algn="l" rtl="0" eaLnBrk="0">
                <a:lnSpc>
                  <a:spcPct val="85000"/>
                </a:lnSpc>
              </a:pP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成熟期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20955" algn="l" rtl="0" eaLnBrk="0">
                <a:lnSpc>
                  <a:spcPct val="87000"/>
                </a:lnSpc>
                <a:spcBef>
                  <a:spcPts val="510"/>
                </a:spcBef>
              </a:pPr>
              <a:r>
                <a:rPr sz="1700" kern="0" spc="7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战略咨询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1030"/>
                </a:spcBef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合规风控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3335" algn="l" rtl="0" eaLnBrk="0">
                <a:lnSpc>
                  <a:spcPct val="87000"/>
                </a:lnSpc>
                <a:spcBef>
                  <a:spcPts val="1020"/>
                </a:spcBef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能源环保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5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4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389890" algn="l" rtl="0" eaLnBrk="0">
                <a:lnSpc>
                  <a:spcPts val="310"/>
                </a:lnSpc>
                <a:spcBef>
                  <a:spcPts val="0"/>
                </a:spcBef>
              </a:pPr>
              <a:r>
                <a:rPr sz="1700" kern="0" spc="-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…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pic>
        <p:nvPicPr>
          <p:cNvPr id="304" name="picture 3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3999465" y="3739895"/>
            <a:ext cx="8412480" cy="8478012"/>
          </a:xfrm>
          <a:prstGeom prst="rect">
            <a:avLst/>
          </a:prstGeom>
        </p:spPr>
      </p:pic>
      <p:sp>
        <p:nvSpPr>
          <p:cNvPr id="306" name="textbox 306"/>
          <p:cNvSpPr/>
          <p:nvPr/>
        </p:nvSpPr>
        <p:spPr>
          <a:xfrm>
            <a:off x="1508005" y="1967067"/>
            <a:ext cx="20851494" cy="735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通过吸引众多专业服务机构入驻</a:t>
            </a:r>
            <a:r>
              <a:rPr sz="2000" kern="0" spc="-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，并研发和引入上百个细分领域智能体</a:t>
            </a:r>
            <a:r>
              <a:rPr sz="2000" kern="0" spc="-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，为企业提供财税工法、</a:t>
            </a:r>
            <a:r>
              <a:rPr sz="2000" kern="0" spc="-4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咨询策划、</a:t>
            </a:r>
            <a:r>
              <a:rPr sz="2000" kern="0" spc="-4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人力资源、</a:t>
            </a:r>
            <a:r>
              <a:rPr sz="2000" kern="0" spc="-5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信息服务、</a:t>
            </a:r>
            <a:r>
              <a:rPr sz="2000" kern="0" spc="-4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研发设计、</a:t>
            </a:r>
            <a:r>
              <a:rPr sz="2000" kern="0" spc="-4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节能环保、</a:t>
            </a:r>
            <a:r>
              <a:rPr sz="2000" kern="0" spc="-4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其他专业服务等覆盖全生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命周期的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3335" algn="l" rtl="0" eaLnBrk="0">
              <a:lnSpc>
                <a:spcPts val="3595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一站式、</a:t>
            </a:r>
            <a:r>
              <a:rPr sz="2000" kern="0" spc="-5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智能化服务。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pSp>
        <p:nvGrpSpPr>
          <p:cNvPr id="38" name="group 38"/>
          <p:cNvGrpSpPr/>
          <p:nvPr/>
        </p:nvGrpSpPr>
        <p:grpSpPr>
          <a:xfrm rot="21600000">
            <a:off x="522732" y="521208"/>
            <a:ext cx="6670548" cy="911351"/>
            <a:chOff x="0" y="0"/>
            <a:chExt cx="6670548" cy="911351"/>
          </a:xfrm>
        </p:grpSpPr>
        <p:pic>
          <p:nvPicPr>
            <p:cNvPr id="308" name="picture 30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670548" cy="911351"/>
            </a:xfrm>
            <a:prstGeom prst="rect">
              <a:avLst/>
            </a:prstGeom>
          </p:spPr>
        </p:pic>
        <p:sp>
          <p:nvSpPr>
            <p:cNvPr id="310" name="textbox 310"/>
            <p:cNvSpPr/>
            <p:nvPr/>
          </p:nvSpPr>
          <p:spPr>
            <a:xfrm>
              <a:off x="-12700" y="-12700"/>
              <a:ext cx="6696075" cy="9372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93980" algn="l" rtl="0" eaLnBrk="0">
                <a:lnSpc>
                  <a:spcPts val="5155"/>
                </a:lnSpc>
              </a:pPr>
              <a:r>
                <a:rPr sz="6100" kern="0" spc="-10" baseline="-400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04</a:t>
              </a:r>
              <a:r>
                <a:rPr sz="3900" kern="0" spc="9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   </a:t>
              </a:r>
              <a:r>
                <a:rPr sz="5500" kern="0" spc="-10" baseline="8000" dirty="0">
                  <a:solidFill>
                    <a:srgbClr val="E60012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七大类生产性服务平台</a:t>
              </a:r>
              <a:endParaRPr sz="5500" baseline="8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312" name="textbox 312"/>
          <p:cNvSpPr/>
          <p:nvPr/>
        </p:nvSpPr>
        <p:spPr>
          <a:xfrm>
            <a:off x="21976080" y="521208"/>
            <a:ext cx="2407920" cy="635635"/>
          </a:xfrm>
          <a:prstGeom prst="rect">
            <a:avLst/>
          </a:prstGeom>
          <a:solidFill>
            <a:srgbClr val="E6001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9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518795" algn="l" rtl="0" eaLnBrk="0">
              <a:lnSpc>
                <a:spcPct val="86000"/>
              </a:lnSpc>
              <a:spcBef>
                <a:spcPts val="5"/>
              </a:spcBef>
            </a:pPr>
            <a:r>
              <a:rPr sz="2700" kern="0" spc="3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四大平台</a:t>
            </a:r>
            <a:endParaRPr sz="2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40"/>
          <p:cNvGrpSpPr/>
          <p:nvPr/>
        </p:nvGrpSpPr>
        <p:grpSpPr>
          <a:xfrm rot="21600000">
            <a:off x="2089404" y="9054085"/>
            <a:ext cx="9425940" cy="3838956"/>
            <a:chOff x="0" y="0"/>
            <a:chExt cx="9425940" cy="3838956"/>
          </a:xfrm>
        </p:grpSpPr>
        <p:pic>
          <p:nvPicPr>
            <p:cNvPr id="324" name="picture 32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9425940" cy="3838956"/>
            </a:xfrm>
            <a:prstGeom prst="rect">
              <a:avLst/>
            </a:prstGeom>
          </p:spPr>
        </p:pic>
        <p:sp>
          <p:nvSpPr>
            <p:cNvPr id="326" name="textbox 326"/>
            <p:cNvSpPr/>
            <p:nvPr/>
          </p:nvSpPr>
          <p:spPr>
            <a:xfrm>
              <a:off x="1858187" y="1308836"/>
              <a:ext cx="6545580" cy="11125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3335" algn="l" rtl="0" eaLnBrk="0">
                <a:lnSpc>
                  <a:spcPct val="88000"/>
                </a:lnSpc>
              </a:pPr>
              <a:r>
                <a:rPr sz="1700" kern="0" spc="4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行业资讯                                                       </a:t>
              </a:r>
              <a:r>
                <a:rPr sz="1700" kern="0" spc="3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     价格预测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2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24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25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4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"/>
                </a:spcBef>
              </a:pPr>
              <a:r>
                <a:rPr sz="1700" kern="0" spc="9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研报创作</a:t>
              </a:r>
              <a:r>
                <a:rPr sz="1700" kern="0" spc="1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                         </a:t>
              </a:r>
              <a:r>
                <a:rPr sz="1700" kern="0" spc="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                                    </a:t>
              </a:r>
              <a:r>
                <a:rPr sz="1700" kern="0" spc="9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企业洞察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28" name="textbox 328"/>
            <p:cNvSpPr/>
            <p:nvPr/>
          </p:nvSpPr>
          <p:spPr>
            <a:xfrm>
              <a:off x="1858187" y="447954"/>
              <a:ext cx="6682105" cy="254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700" kern="0" spc="9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产业问数</a:t>
              </a:r>
              <a:r>
                <a:rPr sz="1700" kern="0" spc="1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          </a:t>
              </a:r>
              <a:r>
                <a:rPr sz="1700" kern="0" spc="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                                                  </a:t>
              </a:r>
              <a:r>
                <a:rPr sz="1700" kern="0" spc="9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智能体广场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 rot="21600000">
            <a:off x="13740385" y="9431655"/>
            <a:ext cx="9534803" cy="3178289"/>
            <a:chOff x="0" y="0"/>
            <a:chExt cx="9534803" cy="3178289"/>
          </a:xfrm>
        </p:grpSpPr>
        <p:pic>
          <p:nvPicPr>
            <p:cNvPr id="330" name="picture 3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425117" y="0"/>
              <a:ext cx="8109685" cy="3178289"/>
            </a:xfrm>
            <a:prstGeom prst="rect">
              <a:avLst/>
            </a:prstGeom>
          </p:spPr>
        </p:pic>
        <p:sp>
          <p:nvSpPr>
            <p:cNvPr id="332" name="path 332"/>
            <p:cNvSpPr/>
            <p:nvPr/>
          </p:nvSpPr>
          <p:spPr>
            <a:xfrm>
              <a:off x="0" y="924535"/>
              <a:ext cx="1263180" cy="1262633"/>
            </a:xfrm>
            <a:custGeom>
              <a:avLst/>
              <a:gdLst/>
              <a:ahLst/>
              <a:cxnLst/>
              <a:rect l="0" t="0" r="0" b="0"/>
              <a:pathLst>
                <a:path w="1989" h="1988">
                  <a:moveTo>
                    <a:pt x="0" y="995"/>
                  </a:moveTo>
                  <a:cubicBezTo>
                    <a:pt x="0" y="445"/>
                    <a:pt x="445" y="0"/>
                    <a:pt x="995" y="0"/>
                  </a:cubicBezTo>
                  <a:cubicBezTo>
                    <a:pt x="1544" y="0"/>
                    <a:pt x="1989" y="445"/>
                    <a:pt x="1989" y="994"/>
                  </a:cubicBezTo>
                  <a:cubicBezTo>
                    <a:pt x="1989" y="1543"/>
                    <a:pt x="1544" y="1988"/>
                    <a:pt x="995" y="1988"/>
                  </a:cubicBezTo>
                  <a:cubicBezTo>
                    <a:pt x="445" y="1988"/>
                    <a:pt x="0" y="1543"/>
                    <a:pt x="0" y="995"/>
                  </a:cubicBezTo>
                </a:path>
              </a:pathLst>
            </a:custGeom>
            <a:solidFill>
              <a:srgbClr val="7D46F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4" name="textbox 334"/>
            <p:cNvSpPr/>
            <p:nvPr/>
          </p:nvSpPr>
          <p:spPr>
            <a:xfrm>
              <a:off x="316407" y="1193724"/>
              <a:ext cx="633095" cy="654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66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5875" indent="-3175" algn="l" rtl="0" eaLnBrk="0">
                <a:lnSpc>
                  <a:spcPct val="90000"/>
                </a:lnSpc>
              </a:pPr>
              <a:r>
                <a:rPr sz="2300" b="1" kern="0" spc="7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数字</a:t>
              </a:r>
              <a:r>
                <a:rPr sz="2300" b="1" kern="0" spc="5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员工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336" name="textbox 336"/>
          <p:cNvSpPr/>
          <p:nvPr/>
        </p:nvSpPr>
        <p:spPr>
          <a:xfrm>
            <a:off x="1441196" y="2020293"/>
            <a:ext cx="14016989" cy="1657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r" rtl="0" eaLnBrk="0">
              <a:lnSpc>
                <a:spcPts val="2590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万联易达以构建</a:t>
            </a:r>
            <a:r>
              <a:rPr sz="2000" kern="0" spc="3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“全产业AI超级载体”为核心定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位</a:t>
            </a:r>
            <a:r>
              <a:rPr sz="2000" kern="0" spc="-3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，研发应用于全产业的专家级AI大模型</a:t>
            </a:r>
            <a:r>
              <a:rPr sz="2000" kern="0" spc="-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，打造Agentic AI智能体服务生态。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15000"/>
              </a:lnSpc>
            </a:pPr>
            <a:endParaRPr sz="5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506095" algn="l" rtl="0" eaLnBrk="0">
              <a:lnSpc>
                <a:spcPct val="87000"/>
              </a:lnSpc>
              <a:spcBef>
                <a:spcPts val="0"/>
              </a:spcBef>
              <a:tabLst>
                <a:tab pos="60134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万联摩尔</a:t>
            </a:r>
            <a:endParaRPr sz="23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8" name="picture 3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53896" y="3169221"/>
            <a:ext cx="493775" cy="492950"/>
          </a:xfrm>
          <a:prstGeom prst="rect">
            <a:avLst/>
          </a:prstGeom>
        </p:spPr>
      </p:pic>
      <p:sp>
        <p:nvSpPr>
          <p:cNvPr id="340" name="textbox 340"/>
          <p:cNvSpPr/>
          <p:nvPr/>
        </p:nvSpPr>
        <p:spPr>
          <a:xfrm>
            <a:off x="1467612" y="4632960"/>
            <a:ext cx="10357485" cy="1758950"/>
          </a:xfrm>
          <a:prstGeom prst="rect">
            <a:avLst/>
          </a:prstGeom>
          <a:solidFill>
            <a:srgbClr val="7D46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428625" algn="l" rtl="0" eaLnBrk="0">
              <a:lnSpc>
                <a:spcPts val="8520"/>
              </a:lnSpc>
              <a:spcBef>
                <a:spcPts val="5"/>
              </a:spcBef>
            </a:pPr>
            <a:r>
              <a:rPr sz="6400" kern="0" spc="-18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97</a:t>
            </a:r>
            <a:r>
              <a:rPr sz="3900" kern="0" spc="-180" baseline="-100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大类</a:t>
            </a:r>
            <a:r>
              <a:rPr sz="2500" kern="0" spc="-18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sz="6400" kern="0" spc="-18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1382</a:t>
            </a:r>
            <a:r>
              <a:rPr sz="6400" kern="0" spc="-103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3900" kern="0" spc="-180" baseline="-100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小类</a:t>
            </a:r>
            <a:r>
              <a:rPr sz="2500" kern="0" spc="-18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  </a:t>
            </a:r>
            <a:r>
              <a:rPr sz="3900" kern="0" spc="-180" baseline="-100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形成</a:t>
            </a:r>
            <a:r>
              <a:rPr sz="2500" kern="0" spc="-18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sz="6400" kern="0" spc="-18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100</a:t>
            </a:r>
            <a:r>
              <a:rPr sz="6400" kern="0" spc="-64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3900" kern="0" spc="-180" baseline="-100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亿+</a:t>
            </a:r>
            <a:r>
              <a:rPr sz="2500" kern="0" spc="-2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3900" kern="0" spc="-180" baseline="-100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结构</a:t>
            </a:r>
            <a:r>
              <a:rPr sz="3900" kern="0" spc="-190" baseline="-100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化可信数据</a:t>
            </a:r>
            <a:endParaRPr sz="3900" baseline="-1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pSp>
        <p:nvGrpSpPr>
          <p:cNvPr id="44" name="group 44"/>
          <p:cNvGrpSpPr/>
          <p:nvPr/>
        </p:nvGrpSpPr>
        <p:grpSpPr>
          <a:xfrm rot="21600000">
            <a:off x="15485383" y="9861045"/>
            <a:ext cx="7473513" cy="2377322"/>
            <a:chOff x="0" y="0"/>
            <a:chExt cx="7473513" cy="2377322"/>
          </a:xfrm>
        </p:grpSpPr>
        <p:sp>
          <p:nvSpPr>
            <p:cNvPr id="342" name="textbox 342"/>
            <p:cNvSpPr/>
            <p:nvPr/>
          </p:nvSpPr>
          <p:spPr>
            <a:xfrm>
              <a:off x="-12700" y="-12700"/>
              <a:ext cx="7472680" cy="2402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0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indent="5715" algn="l" rtl="0" eaLnBrk="0">
                <a:lnSpc>
                  <a:spcPct val="116000"/>
                </a:lnSpc>
              </a:pPr>
              <a:r>
                <a:rPr sz="2000" kern="0" spc="-2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为企业设计销售经理</a:t>
              </a:r>
              <a:r>
                <a:rPr sz="2000" kern="0" spc="-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、</a:t>
              </a:r>
              <a:r>
                <a:rPr sz="2000" kern="0" spc="-50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-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采销经理、</a:t>
              </a:r>
              <a:r>
                <a:rPr sz="2000" kern="0" spc="-4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-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法务经理、</a:t>
              </a:r>
              <a:r>
                <a:rPr sz="2000" kern="0" spc="-48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-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财务经理、</a:t>
              </a:r>
              <a:r>
                <a:rPr sz="2000" kern="0" spc="-50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-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运营经理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等AI数字员工</a:t>
              </a:r>
              <a:r>
                <a:rPr sz="2000" kern="0" spc="-37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，并支持企业</a:t>
              </a: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基于私有数据进行专属训练。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4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r" rtl="0" eaLnBrk="0">
                <a:lnSpc>
                  <a:spcPct val="88000"/>
                </a:lnSpc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销售经理</a:t>
              </a: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       </a:t>
              </a: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采销经理</a:t>
              </a: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       </a:t>
              </a: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法务经理</a:t>
              </a: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       </a:t>
              </a: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财务经理</a:t>
              </a: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        </a:t>
              </a: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运营经理</a:t>
              </a:r>
              <a:endParaRPr sz="17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pic>
          <p:nvPicPr>
            <p:cNvPr id="344" name="picture 34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64771" y="745329"/>
              <a:ext cx="7408741" cy="1115863"/>
            </a:xfrm>
            <a:prstGeom prst="rect">
              <a:avLst/>
            </a:prstGeom>
          </p:spPr>
        </p:pic>
      </p:grpSp>
      <p:sp>
        <p:nvSpPr>
          <p:cNvPr id="346" name="textbox 346"/>
          <p:cNvSpPr/>
          <p:nvPr/>
        </p:nvSpPr>
        <p:spPr>
          <a:xfrm>
            <a:off x="1457328" y="7182068"/>
            <a:ext cx="10184765" cy="1256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5240" algn="l" rtl="0" eaLnBrk="0">
              <a:lnSpc>
                <a:spcPct val="84000"/>
              </a:lnSpc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具备产业数据覆盖全、</a:t>
            </a:r>
            <a:r>
              <a:rPr sz="2000" kern="0" spc="-5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业痛点理解深、</a:t>
            </a:r>
            <a:r>
              <a:rPr sz="2000" kern="0" spc="-5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产业问题回答准、</a:t>
            </a:r>
            <a:r>
              <a:rPr sz="2000" kern="0" spc="-5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产业服务能力强的显著特点。</a:t>
            </a:r>
            <a:r>
              <a:rPr sz="2000" kern="0" spc="-4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其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indent="19050" algn="l" rtl="0" eaLnBrk="0">
              <a:lnSpc>
                <a:spcPct val="160000"/>
              </a:lnSpc>
              <a:spcBef>
                <a:spcPts val="5"/>
              </a:spcBef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</a:t>
            </a:r>
            <a:r>
              <a:rPr sz="2000" kern="0" spc="-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，智能体广场作为全产业AI超级载体入口</a:t>
            </a:r>
            <a:r>
              <a:rPr sz="2000" kern="0" spc="-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，汇聚各类自研及第三方智能体</a:t>
            </a:r>
            <a:r>
              <a:rPr sz="2000" kern="0" spc="-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，为专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业人群和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企业用户提供颗粒度精细的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辅助决策方案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pSp>
        <p:nvGrpSpPr>
          <p:cNvPr id="46" name="group 46"/>
          <p:cNvGrpSpPr/>
          <p:nvPr/>
        </p:nvGrpSpPr>
        <p:grpSpPr>
          <a:xfrm rot="21600000">
            <a:off x="13973175" y="5231701"/>
            <a:ext cx="2911475" cy="3362452"/>
            <a:chOff x="0" y="0"/>
            <a:chExt cx="2911475" cy="3362452"/>
          </a:xfrm>
        </p:grpSpPr>
        <p:pic>
          <p:nvPicPr>
            <p:cNvPr id="348" name="picture 34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911475" cy="3362452"/>
            </a:xfrm>
            <a:prstGeom prst="rect">
              <a:avLst/>
            </a:prstGeom>
          </p:spPr>
        </p:pic>
        <p:sp>
          <p:nvSpPr>
            <p:cNvPr id="350" name="textbox 350"/>
            <p:cNvSpPr/>
            <p:nvPr/>
          </p:nvSpPr>
          <p:spPr>
            <a:xfrm>
              <a:off x="365129" y="1026164"/>
              <a:ext cx="1560830" cy="1797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43815" algn="l" rtl="0" eaLnBrk="0">
                <a:lnSpc>
                  <a:spcPct val="88000"/>
                </a:lnSpc>
              </a:pPr>
              <a:r>
                <a:rPr sz="1200" b="1" kern="0" spc="8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研发</a:t>
              </a:r>
              <a:endParaRPr sz="12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639445" indent="286385" algn="l" rtl="0" eaLnBrk="0">
                <a:lnSpc>
                  <a:spcPct val="99000"/>
                </a:lnSpc>
                <a:spcBef>
                  <a:spcPts val="80"/>
                </a:spcBef>
              </a:pPr>
              <a:r>
                <a:rPr sz="2300" b="1" kern="0" spc="24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AI</a:t>
              </a:r>
              <a:r>
                <a:rPr sz="2300" kern="0" spc="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2300" b="1" kern="0" spc="6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智能体</a:t>
              </a:r>
              <a:endParaRPr sz="23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2700" algn="l" rtl="0" eaLnBrk="0">
                <a:lnSpc>
                  <a:spcPct val="84000"/>
                </a:lnSpc>
                <a:spcBef>
                  <a:spcPts val="605"/>
                </a:spcBef>
              </a:pPr>
              <a:r>
                <a:rPr sz="1200" b="1" kern="0" spc="7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企业</a:t>
              </a:r>
              <a:endParaRPr sz="12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13335" algn="l" rtl="0" eaLnBrk="0">
                <a:lnSpc>
                  <a:spcPts val="1455"/>
                </a:lnSpc>
              </a:pPr>
              <a:r>
                <a:rPr sz="1200" b="1" kern="0" spc="7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管理</a:t>
              </a:r>
              <a:endParaRPr sz="12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86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3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940435" algn="l" rtl="0" eaLnBrk="0">
                <a:lnSpc>
                  <a:spcPct val="88000"/>
                </a:lnSpc>
                <a:spcBef>
                  <a:spcPts val="5"/>
                </a:spcBef>
              </a:pPr>
              <a:r>
                <a:rPr sz="1200" b="1" kern="0" spc="7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服务</a:t>
              </a:r>
              <a:endParaRPr sz="12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52" name="textbox 352"/>
            <p:cNvSpPr/>
            <p:nvPr/>
          </p:nvSpPr>
          <p:spPr>
            <a:xfrm>
              <a:off x="2131645" y="1025670"/>
              <a:ext cx="517525" cy="12179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200" b="1" kern="0" spc="8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供应链</a:t>
              </a:r>
              <a:endParaRPr sz="12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3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70485" algn="l" rtl="0" eaLnBrk="0">
                <a:lnSpc>
                  <a:spcPct val="88000"/>
                </a:lnSpc>
                <a:spcBef>
                  <a:spcPts val="0"/>
                </a:spcBef>
              </a:pPr>
              <a:r>
                <a:rPr sz="1200" b="1" kern="0" spc="7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营销</a:t>
              </a:r>
              <a:endParaRPr sz="12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54" name="textbox 354"/>
            <p:cNvSpPr/>
            <p:nvPr/>
          </p:nvSpPr>
          <p:spPr>
            <a:xfrm>
              <a:off x="1294142" y="481069"/>
              <a:ext cx="351790" cy="1879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9000"/>
                </a:lnSpc>
              </a:pPr>
              <a:r>
                <a:rPr sz="1200" b="1" kern="0" spc="7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生产</a:t>
              </a:r>
              <a:endParaRPr sz="12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356" name="textbox 356"/>
          <p:cNvSpPr/>
          <p:nvPr/>
        </p:nvSpPr>
        <p:spPr>
          <a:xfrm>
            <a:off x="13998079" y="3968588"/>
            <a:ext cx="8911590" cy="735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万联摩尔整合产业生态内外可信数据</a:t>
            </a:r>
            <a:r>
              <a:rPr sz="2000" kern="0" spc="-3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，面向专业人士</a:t>
            </a:r>
            <a:r>
              <a:rPr sz="2000" kern="0" spc="-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，提供业务赋能和辅助决策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2225" algn="l" rtl="0" eaLnBrk="0">
              <a:lnSpc>
                <a:spcPts val="3580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的AI智能体服务。</a:t>
            </a:r>
            <a:r>
              <a:rPr sz="2000" kern="0" spc="-3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同时为企业提供一体化的全栈AI定制化解决方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案。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8" name="textbox 358"/>
          <p:cNvSpPr/>
          <p:nvPr/>
        </p:nvSpPr>
        <p:spPr>
          <a:xfrm>
            <a:off x="17786102" y="6881853"/>
            <a:ext cx="5358130" cy="1213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9050" algn="l" rtl="0" eaLnBrk="0">
              <a:lnSpc>
                <a:spcPts val="2590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为企业部署个性化的AI智能体</a:t>
            </a:r>
            <a:r>
              <a:rPr sz="2000" kern="0" spc="-3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，覆盖</a:t>
            </a:r>
            <a:r>
              <a:rPr sz="2000" kern="0" spc="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“研发、</a:t>
            </a:r>
            <a:r>
              <a:rPr sz="2000" kern="0" spc="-5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indent="635" algn="l" rtl="0" eaLnBrk="0">
              <a:lnSpc>
                <a:spcPct val="140000"/>
              </a:lnSpc>
              <a:spcBef>
                <a:spcPts val="45"/>
              </a:spcBef>
            </a:pP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产、</a:t>
            </a:r>
            <a:r>
              <a:rPr sz="2000" kern="0" spc="-5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供应链、</a:t>
            </a:r>
            <a:r>
              <a:rPr sz="2000" kern="0" spc="-4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营销、</a:t>
            </a:r>
            <a:r>
              <a:rPr sz="2000" kern="0" spc="-4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服务、</a:t>
            </a:r>
            <a:r>
              <a:rPr sz="2000" kern="0" spc="-5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企业管理”的全生命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周期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pSp>
        <p:nvGrpSpPr>
          <p:cNvPr id="48" name="group 48"/>
          <p:cNvGrpSpPr/>
          <p:nvPr/>
        </p:nvGrpSpPr>
        <p:grpSpPr>
          <a:xfrm rot="21600000">
            <a:off x="1649412" y="544067"/>
            <a:ext cx="4594415" cy="922020"/>
            <a:chOff x="0" y="0"/>
            <a:chExt cx="4594415" cy="922020"/>
          </a:xfrm>
        </p:grpSpPr>
        <p:pic>
          <p:nvPicPr>
            <p:cNvPr id="360" name="picture 36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594415" cy="922020"/>
            </a:xfrm>
            <a:prstGeom prst="rect">
              <a:avLst/>
            </a:prstGeom>
          </p:spPr>
        </p:pic>
        <p:sp>
          <p:nvSpPr>
            <p:cNvPr id="362" name="textbox 362"/>
            <p:cNvSpPr/>
            <p:nvPr/>
          </p:nvSpPr>
          <p:spPr>
            <a:xfrm>
              <a:off x="-12700" y="-12700"/>
              <a:ext cx="4620260" cy="9569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algn="l" rtl="0" eaLnBrk="0">
                <a:lnSpc>
                  <a:spcPct val="10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424815" algn="l" rtl="0" eaLnBrk="0">
                <a:lnSpc>
                  <a:spcPct val="87000"/>
                </a:lnSpc>
              </a:pPr>
              <a:r>
                <a:rPr sz="3500" kern="0" spc="8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专家级产业智能体</a:t>
              </a:r>
              <a:endParaRPr sz="35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364" name="textbox 364"/>
          <p:cNvSpPr/>
          <p:nvPr/>
        </p:nvSpPr>
        <p:spPr>
          <a:xfrm>
            <a:off x="1510724" y="3902433"/>
            <a:ext cx="9404985" cy="354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algn="l" rtl="0" eaLnBrk="0">
              <a:lnSpc>
                <a:spcPts val="2590"/>
              </a:lnSpc>
            </a:pP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国内首个全产业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大模型</a:t>
            </a:r>
            <a:r>
              <a:rPr sz="2000" kern="0" spc="-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，融合</a:t>
            </a:r>
            <a:r>
              <a:rPr sz="2000" kern="0" spc="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“产业本体图谱的结构化思考技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术”</a:t>
            </a:r>
            <a:r>
              <a:rPr sz="2000" kern="0" spc="-3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，逐步覆盖行业</a:t>
            </a:r>
            <a:endParaRPr sz="2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6" name="textbox 366"/>
          <p:cNvSpPr/>
          <p:nvPr/>
        </p:nvSpPr>
        <p:spPr>
          <a:xfrm>
            <a:off x="21406104" y="521208"/>
            <a:ext cx="2978150" cy="635635"/>
          </a:xfrm>
          <a:prstGeom prst="rect">
            <a:avLst/>
          </a:prstGeom>
          <a:solidFill>
            <a:srgbClr val="7D46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8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491490" algn="l" rtl="0" eaLnBrk="0">
              <a:lnSpc>
                <a:spcPct val="87000"/>
              </a:lnSpc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生态赋能产品</a:t>
            </a:r>
            <a:endParaRPr sz="2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pSp>
        <p:nvGrpSpPr>
          <p:cNvPr id="50" name="group 50"/>
          <p:cNvGrpSpPr/>
          <p:nvPr/>
        </p:nvGrpSpPr>
        <p:grpSpPr>
          <a:xfrm rot="21600000">
            <a:off x="17738724" y="5966460"/>
            <a:ext cx="1690256" cy="646430"/>
            <a:chOff x="0" y="0"/>
            <a:chExt cx="1690256" cy="646430"/>
          </a:xfrm>
        </p:grpSpPr>
        <p:pic>
          <p:nvPicPr>
            <p:cNvPr id="368" name="picture 36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690256" cy="646430"/>
            </a:xfrm>
            <a:prstGeom prst="rect">
              <a:avLst/>
            </a:prstGeom>
          </p:spPr>
        </p:pic>
        <p:sp>
          <p:nvSpPr>
            <p:cNvPr id="370" name="textbox 370"/>
            <p:cNvSpPr/>
            <p:nvPr/>
          </p:nvSpPr>
          <p:spPr>
            <a:xfrm>
              <a:off x="207756" y="182502"/>
              <a:ext cx="1292860" cy="2882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Arial" panose="020B0704020202020204"/>
                <a:ea typeface="Arial" panose="020B0704020202020204"/>
                <a:cs typeface="Arial" panose="020B07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2000" kern="0" spc="-10" dirty="0">
                  <a:solidFill>
                    <a:srgbClr val="7D46FA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定制化服务</a:t>
              </a:r>
              <a:endParaRPr sz="2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pic>
        <p:nvPicPr>
          <p:cNvPr id="372" name="picture 37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22630" y="577698"/>
            <a:ext cx="869137" cy="814221"/>
          </a:xfrm>
          <a:prstGeom prst="rect">
            <a:avLst/>
          </a:prstGeom>
        </p:spPr>
      </p:pic>
      <p:sp>
        <p:nvSpPr>
          <p:cNvPr id="374" name="textbox 374"/>
          <p:cNvSpPr/>
          <p:nvPr/>
        </p:nvSpPr>
        <p:spPr>
          <a:xfrm>
            <a:off x="735454" y="654237"/>
            <a:ext cx="598805" cy="680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marL="12700" algn="l" rtl="0" eaLnBrk="0">
              <a:lnSpc>
                <a:spcPts val="5155"/>
              </a:lnSpc>
            </a:pPr>
            <a:r>
              <a:rPr sz="3900" kern="0" spc="29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39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2934</Words>
  <Application>WPS 表格</Application>
  <PresentationFormat/>
  <Paragraphs>484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Arial</vt:lpstr>
      <vt:lpstr>PingFang SC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provence</cp:lastModifiedBy>
  <cp:revision>7</cp:revision>
  <dcterms:created xsi:type="dcterms:W3CDTF">2026-06-04T07:07:48Z</dcterms:created>
  <dcterms:modified xsi:type="dcterms:W3CDTF">2026-06-04T07:07:48Z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2026-06-03T20:45:27Z</vt:filetime>
  </property>
  <property fmtid="{D5CDD505-2E9C-101B-9397-08002B2CF9AE}" pid="4" name="ICV">
    <vt:lpwstr>0B51ABC0CB4037071CDA1F6A0CA2FCF7_42</vt:lpwstr>
  </property>
  <property fmtid="{D5CDD505-2E9C-101B-9397-08002B2CF9AE}" pid="5" name="KSOProductBuildVer">
    <vt:lpwstr>2052-12.1.22553.22553</vt:lpwstr>
  </property>
</Properties>
</file>